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3"/>
  </p:notesMasterIdLst>
  <p:sldIdLst>
    <p:sldId id="300" r:id="rId2"/>
    <p:sldId id="301" r:id="rId3"/>
    <p:sldId id="302" r:id="rId4"/>
    <p:sldId id="303" r:id="rId5"/>
    <p:sldId id="304" r:id="rId6"/>
    <p:sldId id="305" r:id="rId7"/>
    <p:sldId id="332" r:id="rId8"/>
    <p:sldId id="307" r:id="rId9"/>
    <p:sldId id="308" r:id="rId10"/>
    <p:sldId id="333" r:id="rId11"/>
    <p:sldId id="310" r:id="rId12"/>
    <p:sldId id="311" r:id="rId13"/>
    <p:sldId id="334" r:id="rId14"/>
    <p:sldId id="313" r:id="rId15"/>
    <p:sldId id="314" r:id="rId16"/>
    <p:sldId id="315" r:id="rId17"/>
    <p:sldId id="336" r:id="rId18"/>
    <p:sldId id="328" r:id="rId19"/>
    <p:sldId id="329" r:id="rId20"/>
    <p:sldId id="337" r:id="rId21"/>
    <p:sldId id="338" r:id="rId22"/>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79298" autoAdjust="0"/>
  </p:normalViewPr>
  <p:slideViewPr>
    <p:cSldViewPr snapToGrid="0">
      <p:cViewPr varScale="1">
        <p:scale>
          <a:sx n="88" d="100"/>
          <a:sy n="88" d="100"/>
        </p:scale>
        <p:origin x="147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pPr>
              <a:defRPr sz="1600" b="1">
                <a:solidFill>
                  <a:srgbClr val="FFFFFF"/>
                </a:solidFill>
              </a:defRPr>
            </a:pPr>
            <a:r>
              <a:rPr lang="en-US" sz="1600" b="1">
                <a:solidFill>
                  <a:srgbClr val="FFFFFF"/>
                </a:solidFill>
              </a:rPr>
              <a:t>Knowledge loaded into context per task (KB)</a:t>
            </a:r>
          </a:p>
        </c:rich>
      </c:tx>
      <c:overlay val="0"/>
    </c:title>
    <c:autoTitleDeleted val="0"/>
    <c:plotArea>
      <c:layout/>
      <c:barChart>
        <c:barDir val="col"/>
        <c:grouping val="clustered"/>
        <c:varyColors val="1"/>
        <c:ser>
          <c:idx val="0"/>
          <c:order val="0"/>
          <c:tx>
            <c:v>Plugin / skill bundle</c:v>
          </c:tx>
          <c:spPr>
            <a:solidFill>
              <a:srgbClr val="EF5350"/>
            </a:solidFill>
          </c:spPr>
          <c:invertIfNegative val="1"/>
          <c:dLbls>
            <c:spPr>
              <a:noFill/>
              <a:ln>
                <a:noFill/>
              </a:ln>
              <a:effectLst/>
            </c:spPr>
            <c:txPr>
              <a:bodyPr/>
              <a:lstStyle/>
              <a:p>
                <a:pPr>
                  <a:defRPr sz="1400">
                    <a:solidFill>
                      <a:srgbClr val="E8EAED"/>
                    </a:solidFill>
                  </a:defRPr>
                </a:pPr>
                <a:endParaRPr lang="en-US"/>
              </a:p>
            </c:txPr>
            <c:showLegendKey val="0"/>
            <c:showVal val="1"/>
            <c:showCatName val="0"/>
            <c:showSerName val="0"/>
            <c:showPercent val="0"/>
            <c:showBubbleSize val="1"/>
            <c:showLeaderLines val="0"/>
            <c:extLst>
              <c:ext xmlns:c15="http://schemas.microsoft.com/office/drawing/2012/chart" uri="{CE6537A1-D6FC-4f65-9D91-7224C49458BB}">
                <c15:showLeaderLines val="0"/>
              </c:ext>
            </c:extLst>
          </c:dLbls>
          <c:cat>
            <c:strLit>
              <c:ptCount val="5"/>
              <c:pt idx="0">
                <c:v>Rename a page</c:v>
              </c:pt>
              <c:pt idx="1">
                <c:v>Create a theme</c:v>
              </c:pt>
              <c:pt idx="2">
                <c:v>Add a measure</c:v>
              </c:pt>
              <c:pt idx="3">
                <c:v>Validate report</c:v>
              </c:pt>
              <c:pt idx="4">
                <c:v>Audit perf</c:v>
              </c:pt>
            </c:strLit>
          </c:cat>
          <c:val>
            <c:numLit>
              <c:formatCode>General</c:formatCode>
              <c:ptCount val="5"/>
              <c:pt idx="0">
                <c:v>12</c:v>
              </c:pt>
              <c:pt idx="1">
                <c:v>28</c:v>
              </c:pt>
              <c:pt idx="2">
                <c:v>9</c:v>
              </c:pt>
              <c:pt idx="3">
                <c:v>23</c:v>
              </c:pt>
              <c:pt idx="4">
                <c:v>10</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5E6-4059-9171-37244D4DD350}"/>
            </c:ext>
          </c:extLst>
        </c:ser>
        <c:ser>
          <c:idx val="1"/>
          <c:order val="1"/>
          <c:tx>
            <c:v>Atomic blueprint</c:v>
          </c:tx>
          <c:spPr>
            <a:solidFill>
              <a:srgbClr val="4FC3F7"/>
            </a:solidFill>
          </c:spPr>
          <c:invertIfNegative val="1"/>
          <c:dLbls>
            <c:spPr>
              <a:noFill/>
              <a:ln>
                <a:noFill/>
              </a:ln>
              <a:effectLst/>
            </c:spPr>
            <c:txPr>
              <a:bodyPr/>
              <a:lstStyle/>
              <a:p>
                <a:pPr>
                  <a:defRPr sz="1400">
                    <a:solidFill>
                      <a:srgbClr val="E8EAED"/>
                    </a:solidFill>
                  </a:defRPr>
                </a:pPr>
                <a:endParaRPr lang="en-US"/>
              </a:p>
            </c:txPr>
            <c:showLegendKey val="0"/>
            <c:showVal val="1"/>
            <c:showCatName val="0"/>
            <c:showSerName val="0"/>
            <c:showPercent val="0"/>
            <c:showBubbleSize val="1"/>
            <c:showLeaderLines val="0"/>
            <c:extLst>
              <c:ext xmlns:c15="http://schemas.microsoft.com/office/drawing/2012/chart" uri="{CE6537A1-D6FC-4f65-9D91-7224C49458BB}">
                <c15:showLeaderLines val="0"/>
              </c:ext>
            </c:extLst>
          </c:dLbls>
          <c:cat>
            <c:strLit>
              <c:ptCount val="5"/>
              <c:pt idx="0">
                <c:v>Rename a page</c:v>
              </c:pt>
              <c:pt idx="1">
                <c:v>Create a theme</c:v>
              </c:pt>
              <c:pt idx="2">
                <c:v>Add a measure</c:v>
              </c:pt>
              <c:pt idx="3">
                <c:v>Validate report</c:v>
              </c:pt>
              <c:pt idx="4">
                <c:v>Audit perf</c:v>
              </c:pt>
            </c:strLit>
          </c:cat>
          <c:val>
            <c:numLit>
              <c:formatCode>General</c:formatCode>
              <c:ptCount val="5"/>
              <c:pt idx="0">
                <c:v>1</c:v>
              </c:pt>
              <c:pt idx="1">
                <c:v>10</c:v>
              </c:pt>
              <c:pt idx="2">
                <c:v>3</c:v>
              </c:pt>
              <c:pt idx="3">
                <c:v>1</c:v>
              </c:pt>
              <c:pt idx="4">
                <c:v>6</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95E6-4059-9171-37244D4DD350}"/>
            </c:ext>
          </c:extLst>
        </c:ser>
        <c:dLbls>
          <c:showLegendKey val="0"/>
          <c:showVal val="0"/>
          <c:showCatName val="0"/>
          <c:showSerName val="0"/>
          <c:showPercent val="0"/>
          <c:showBubbleSize val="0"/>
        </c:dLbls>
        <c:gapWidth val="60"/>
        <c:axId val="1"/>
        <c:axId val="2"/>
      </c:barChart>
      <c:catAx>
        <c:axId val="1"/>
        <c:scaling>
          <c:orientation val="minMax"/>
        </c:scaling>
        <c:delete val="0"/>
        <c:axPos val="b"/>
        <c:numFmt formatCode="General" sourceLinked="0"/>
        <c:majorTickMark val="none"/>
        <c:minorTickMark val="none"/>
        <c:tickLblPos val="nextTo"/>
        <c:spPr>
          <a:ln>
            <a:solidFill>
              <a:srgbClr val="3A4049"/>
            </a:solidFill>
          </a:ln>
        </c:spPr>
        <c:txPr>
          <a:bodyPr/>
          <a:lstStyle/>
          <a:p>
            <a:pPr>
              <a:defRPr sz="1400">
                <a:solidFill>
                  <a:srgbClr val="B0BEC5"/>
                </a:solidFill>
              </a:defRPr>
            </a:pPr>
            <a:endParaRPr lang="en-US"/>
          </a:p>
        </c:txPr>
        <c:crossAx val="2"/>
        <c:crosses val="autoZero"/>
        <c:auto val="1"/>
        <c:lblAlgn val="ctr"/>
        <c:lblOffset val="100"/>
        <c:noMultiLvlLbl val="1"/>
      </c:catAx>
      <c:valAx>
        <c:axId val="2"/>
        <c:scaling>
          <c:orientation val="minMax"/>
        </c:scaling>
        <c:delete val="0"/>
        <c:axPos val="l"/>
        <c:majorGridlines>
          <c:spPr>
            <a:ln>
              <a:solidFill>
                <a:srgbClr val="2A2F37"/>
              </a:solidFill>
            </a:ln>
          </c:spPr>
        </c:majorGridlines>
        <c:numFmt formatCode="General" sourceLinked="1"/>
        <c:majorTickMark val="out"/>
        <c:minorTickMark val="none"/>
        <c:tickLblPos val="nextTo"/>
        <c:txPr>
          <a:bodyPr/>
          <a:lstStyle/>
          <a:p>
            <a:pPr>
              <a:defRPr sz="1400">
                <a:solidFill>
                  <a:srgbClr val="B0BEC5"/>
                </a:solidFill>
              </a:defRPr>
            </a:pPr>
            <a:endParaRPr lang="en-US"/>
          </a:p>
        </c:txPr>
        <c:crossAx val="1"/>
        <c:crosses val="autoZero"/>
        <c:crossBetween val="between"/>
      </c:valAx>
      <c:spPr>
        <a:noFill/>
        <a:ln>
          <a:noFill/>
        </a:ln>
      </c:spPr>
    </c:plotArea>
    <c:legend>
      <c:legendPos val="t"/>
      <c:overlay val="0"/>
      <c:txPr>
        <a:bodyPr/>
        <a:lstStyle/>
        <a:p>
          <a:pPr>
            <a:defRPr sz="1400">
              <a:solidFill>
                <a:srgbClr val="D6DAE0"/>
              </a:solidFill>
            </a:defRPr>
          </a:pPr>
          <a:endParaRPr lang="en-US"/>
        </a:p>
      </c:txPr>
    </c:legend>
    <c:plotVisOnly val="1"/>
    <c:dispBlanksAs val="zero"/>
    <c:showDLblsOverMax val="1"/>
  </c:chart>
  <c:spPr>
    <a:no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3540E4-A89B-48D0-847E-122D2C2114E9}" type="datetimeFigureOut">
              <a:rPr lang="LID4096" smtClean="0"/>
              <a:t>08/12/2026</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A70D9D-FA16-4AA8-963B-2BBE00C4A474}" type="slidenum">
              <a:rPr lang="LID4096" smtClean="0"/>
              <a:t>‹#›</a:t>
            </a:fld>
            <a:endParaRPr lang="LID4096"/>
          </a:p>
        </p:txBody>
      </p:sp>
    </p:spTree>
    <p:extLst>
      <p:ext uri="{BB962C8B-B14F-4D97-AF65-F5344CB8AC3E}">
        <p14:creationId xmlns:p14="http://schemas.microsoft.com/office/powerpoint/2010/main" val="1089355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Open with the punchline: we did not build an agent for this. We built a folder. Everything Claude knows about Power BI work in this workspace lives in markdown files you can open, read, and edit in your IDE. The claim of the next fifteen minutes is that this is cheaper, faster, and far easier to audit than a skill bundle.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Four movements. The case is the argument for why this pattern exists at all. The layout is a tour of the actual folders. The workflows are where it gets concrete: six things that happen in a normal working session. The pitch is what you say to a teammate who asks what this is. If you only remember one section, make it the third.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Frame the waste. A skill bundle is all-or-nothing: activate it and the whole file lands in context, whether the task needs three lines of it or all of it. Ask the room how many of them have read a fifteen kilobyte SKILL.md end to end. Nobody has - and neither does the model need to. The point is not that skills are bad, it is that the loading granularity is wrong.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This is the heart of the pattern - if people take one slide away, make it this one. L1 is a map, not a manual: it holds the routing table and nothing else. L2 sets scope for a domain and tells Claude the order of operations. L3 is where the actual procedure lives, one operation per file, small enough to read in a breath. The sizes on the cards matter: the total loaded for a task is roughly L1 plus one L2 plus a handful of L3.</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Principle two is the one that gets violated first - the temptation is always to write a file that covers a whole area. Resist it: if the title needs the word and, split the file. Principle four is why the rooms are numbered rather than named alphabetically - the numbers carry the pipeline order. Principle five is the cheapest idea here: naming files well removes the need for any retrieval infrastructure at all.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These are measured file sizes from this workspace in March 2026, not estimates. The five tasks are a realistic mixed session, not a cherry-picked best case. Two honest caveats worth saying out loud: the atomic column still carries the L1 router once per session, which is why the total is thirty-four and not twenty-one, and the theme task is the closest race because that workflow genuinely needs seven files. The gap widens on simple tasks, which are most tasks.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This is the whole thing on one slide. Two blueprints at the root, each with numbered rooms and a raw projects layer. The numbering is not decoration — it encodes pipeline order, so a newcomer can guess where something lives before opening anything. DEMO — tab over to the workspace and expand the tree in the IDE: show power-bi/CLAUDE.md, then 02-build/theme/, then one atom so they see how small it really is.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The contrast is the point. Power BI is what the pattern looks like after real use - roughly four hundred ninety three atoms, four rooms, hooks wired up. Synthetic data is thirteen files and deliberately thin, which proves the structure ports to a new domain without inheriting the first domain's mass. If someone asks how long it takes to stand up a new blueprint, the honest answer is that the skeleton is an afternoon and the depth accrues with use.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The key line is the footnote: Claude follows a routing table, it does not go hunting through the filesystem. That is what keeps this predictable and auditable - you can trace exactly why a file was loaded. Six steps sounds heavy but it is one hop per layer plus the execute. If a request routes badly, the fix is almost always a missing row in the L1 table, not a smarter model.</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The brief is the contract. If it is complete, Claude asks nothing and goes straight to a plan; if it has gaps, it asks about those and only those. The point is that the brief lives on disk, so it survives the session — chat does not. DEMO — tab over and open a real projects/&lt;name&gt;/brief.md, then show a section marked [fill in] and say that is the only thing it will ask about.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Small script, real quality of life. You edit a brief in your editor, then type anything at all in chat - the hook runs first, spots the file changed in the last hour, and puts it in front of Claude before a plan gets proposed. Note the silent path: if nothing changed it exits zero and adds no noise. Hooks are accelerators, never dependencies - flip briefs to false and the routing still works exactly the same.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Escalate only when you have to. Most questions people ask about a model - what measures exist, what is this column called - are answered by the files already on disk, with no connection and no cost. Tier two earns its keep for live mutations and DAX queries. Tier three is not a failure mode, it is the only route to a few things MCP does not expose: field parameters, query traces, daxlib packages, VertiPaq stats.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Seven steps, seven files. Claude reads them in order and only loads the step it is on — that is the atomic principle doing real work rather than sitting in a diagram. Step 3, the color system, is the one with four layers and the one people ask about. DEMO — tab over to 02-build/theme/create/ and show the seven files, then open color-system.md so they can see an atom is about a page long.</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Three subsystems, three independent switches, one file. Review catches malformed PBIR or TMDL at the moment of writing rather than at refresh time. Bind guards live operations against a running model. Briefs is the discovery hook from two slides ago. The important sentence is the footer - turn them all off and nothing breaks, you just lose the acceleration. That is deliberate: hooks must never become load-bearing.</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Six steps, and synthetic data is the proof they work - it was built by following exactly this list. Tableau, dbt, Fabric notebooks would each follow the same shape. The last point is the governance one: blueprints touch each other through a single documented hand-off file and nothing else. The moment one blueprint starts reading another's rooms, you have rebuilt the tangle this pattern exists to avoid.</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Close by removing the mystique. There is no agent, no plugin manifest, no activation frontmatter, no embedding store - just markdown in named folders. Read the quote if the room is new to this; skip it if they followed the earlier slides. Then land the last line: the real win is auditability. You can open the folder and read everything the model knows, which is not true of any of the alternatives. Good place to take questions.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This is the payoff section. Everything before this was structure; these four slides are what the structure produced. Drop in real screenshots before you present — the placeholders are sized to fit. If you are running the live demo, this is also the natural place to tab over and show the real thing instead.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This is what the seven-step theme workflow produces. Point at the color system first — four layers, not a flat palette. Then mention wildcard defaults: visuals nobody explicitly styled still come out on-brand. DEMO: open the JSON beside the report page and toggle the theme if you want to show it live.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A report page produced from the brief on slide 10. The thing worth saying out loud: nothing on this page was formatted by hand. Layout came from the wireframe atoms, colors from the theme, and the visuals are bound to real measures in the model. DEMO: open the PBIP project and show the same page in PowerPoint Desktop.</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The synthetic-data blueprint's output. Two things to stress: the seed means anyone can regenerate this exact dataset, and the PII-leakage audit runs before anything is handed over — that is the step people skip when they write a one-off faker script. DEMO: show the outputs folder and the dated filenames.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The review pass is what makes the rest safe to hand to someone else. Validation runs as files are written, not as a separate audit nobody remembers to run. Close on this: the folder is auditable end to end — you can read every rule the system followed, because they are all just markdown. Good place to take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70B72-693A-05CB-3AED-073C460DDE4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3" name="Subtitle 2">
            <a:extLst>
              <a:ext uri="{FF2B5EF4-FFF2-40B4-BE49-F238E27FC236}">
                <a16:creationId xmlns:a16="http://schemas.microsoft.com/office/drawing/2014/main" id="{9FD20236-E3AC-2041-4983-9202FB8FD0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ID4096"/>
          </a:p>
        </p:txBody>
      </p:sp>
      <p:sp>
        <p:nvSpPr>
          <p:cNvPr id="4" name="Date Placeholder 3">
            <a:extLst>
              <a:ext uri="{FF2B5EF4-FFF2-40B4-BE49-F238E27FC236}">
                <a16:creationId xmlns:a16="http://schemas.microsoft.com/office/drawing/2014/main" id="{E41D42D8-C3CB-418E-D7C2-214ED11624B8}"/>
              </a:ext>
            </a:extLst>
          </p:cNvPr>
          <p:cNvSpPr>
            <a:spLocks noGrp="1"/>
          </p:cNvSpPr>
          <p:nvPr>
            <p:ph type="dt" sz="half" idx="10"/>
          </p:nvPr>
        </p:nvSpPr>
        <p:spPr/>
        <p:txBody>
          <a:bodyPr/>
          <a:lstStyle/>
          <a:p>
            <a:fld id="{831638ED-2231-4166-94B9-59DC58973E71}" type="datetimeFigureOut">
              <a:rPr lang="LID4096" smtClean="0"/>
              <a:t>08/12/2026</a:t>
            </a:fld>
            <a:endParaRPr lang="LID4096"/>
          </a:p>
        </p:txBody>
      </p:sp>
      <p:sp>
        <p:nvSpPr>
          <p:cNvPr id="5" name="Footer Placeholder 4">
            <a:extLst>
              <a:ext uri="{FF2B5EF4-FFF2-40B4-BE49-F238E27FC236}">
                <a16:creationId xmlns:a16="http://schemas.microsoft.com/office/drawing/2014/main" id="{F9F53AE7-4494-B082-6723-9E91752B30A6}"/>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975E934A-D104-CB12-8FFE-BA30C5387B0F}"/>
              </a:ext>
            </a:extLst>
          </p:cNvPr>
          <p:cNvSpPr>
            <a:spLocks noGrp="1"/>
          </p:cNvSpPr>
          <p:nvPr>
            <p:ph type="sldNum" sz="quarter" idx="12"/>
          </p:nvPr>
        </p:nvSpPr>
        <p:spPr/>
        <p:txBody>
          <a:bodyPr/>
          <a:lstStyle/>
          <a:p>
            <a:fld id="{589D57E3-CE42-484A-9418-5D9606B9D8FD}" type="slidenum">
              <a:rPr lang="LID4096" smtClean="0"/>
              <a:t>‹#›</a:t>
            </a:fld>
            <a:endParaRPr lang="LID4096"/>
          </a:p>
        </p:txBody>
      </p:sp>
    </p:spTree>
    <p:extLst>
      <p:ext uri="{BB962C8B-B14F-4D97-AF65-F5344CB8AC3E}">
        <p14:creationId xmlns:p14="http://schemas.microsoft.com/office/powerpoint/2010/main" val="2238885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D5E9A-D372-D3EE-A472-0D522C2C09D9}"/>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52BB33B7-4088-D706-8B84-A7F555A34A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8EC486CA-B34B-5007-6A02-2BE1D639458B}"/>
              </a:ext>
            </a:extLst>
          </p:cNvPr>
          <p:cNvSpPr>
            <a:spLocks noGrp="1"/>
          </p:cNvSpPr>
          <p:nvPr>
            <p:ph type="dt" sz="half" idx="10"/>
          </p:nvPr>
        </p:nvSpPr>
        <p:spPr/>
        <p:txBody>
          <a:bodyPr/>
          <a:lstStyle/>
          <a:p>
            <a:fld id="{831638ED-2231-4166-94B9-59DC58973E71}" type="datetimeFigureOut">
              <a:rPr lang="LID4096" smtClean="0"/>
              <a:t>08/12/2026</a:t>
            </a:fld>
            <a:endParaRPr lang="LID4096"/>
          </a:p>
        </p:txBody>
      </p:sp>
      <p:sp>
        <p:nvSpPr>
          <p:cNvPr id="5" name="Footer Placeholder 4">
            <a:extLst>
              <a:ext uri="{FF2B5EF4-FFF2-40B4-BE49-F238E27FC236}">
                <a16:creationId xmlns:a16="http://schemas.microsoft.com/office/drawing/2014/main" id="{AC331F72-B674-BB62-8334-3F8B9BE0A2FB}"/>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5CD81E8F-1B42-FD57-DDAA-C98E8C9FA2AC}"/>
              </a:ext>
            </a:extLst>
          </p:cNvPr>
          <p:cNvSpPr>
            <a:spLocks noGrp="1"/>
          </p:cNvSpPr>
          <p:nvPr>
            <p:ph type="sldNum" sz="quarter" idx="12"/>
          </p:nvPr>
        </p:nvSpPr>
        <p:spPr/>
        <p:txBody>
          <a:bodyPr/>
          <a:lstStyle/>
          <a:p>
            <a:fld id="{589D57E3-CE42-484A-9418-5D9606B9D8FD}" type="slidenum">
              <a:rPr lang="LID4096" smtClean="0"/>
              <a:t>‹#›</a:t>
            </a:fld>
            <a:endParaRPr lang="LID4096"/>
          </a:p>
        </p:txBody>
      </p:sp>
    </p:spTree>
    <p:extLst>
      <p:ext uri="{BB962C8B-B14F-4D97-AF65-F5344CB8AC3E}">
        <p14:creationId xmlns:p14="http://schemas.microsoft.com/office/powerpoint/2010/main" val="2504702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F923C-F228-7E7E-06C5-EBD1587578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ID4096"/>
          </a:p>
        </p:txBody>
      </p:sp>
      <p:sp>
        <p:nvSpPr>
          <p:cNvPr id="3" name="Text Placeholder 2">
            <a:extLst>
              <a:ext uri="{FF2B5EF4-FFF2-40B4-BE49-F238E27FC236}">
                <a16:creationId xmlns:a16="http://schemas.microsoft.com/office/drawing/2014/main" id="{ACF59678-CF08-98D2-EDE4-82D200457E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1BC6B9-32A3-F865-FF14-22F134D33C6B}"/>
              </a:ext>
            </a:extLst>
          </p:cNvPr>
          <p:cNvSpPr>
            <a:spLocks noGrp="1"/>
          </p:cNvSpPr>
          <p:nvPr>
            <p:ph type="dt" sz="half" idx="10"/>
          </p:nvPr>
        </p:nvSpPr>
        <p:spPr/>
        <p:txBody>
          <a:bodyPr/>
          <a:lstStyle/>
          <a:p>
            <a:fld id="{831638ED-2231-4166-94B9-59DC58973E71}" type="datetimeFigureOut">
              <a:rPr lang="LID4096" smtClean="0"/>
              <a:t>08/12/2026</a:t>
            </a:fld>
            <a:endParaRPr lang="LID4096"/>
          </a:p>
        </p:txBody>
      </p:sp>
      <p:sp>
        <p:nvSpPr>
          <p:cNvPr id="5" name="Footer Placeholder 4">
            <a:extLst>
              <a:ext uri="{FF2B5EF4-FFF2-40B4-BE49-F238E27FC236}">
                <a16:creationId xmlns:a16="http://schemas.microsoft.com/office/drawing/2014/main" id="{C46EF45C-CB45-3EB9-AC32-C068F4971971}"/>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6FA3E6B4-992E-BC97-7192-413F5D4F1CD9}"/>
              </a:ext>
            </a:extLst>
          </p:cNvPr>
          <p:cNvSpPr>
            <a:spLocks noGrp="1"/>
          </p:cNvSpPr>
          <p:nvPr>
            <p:ph type="sldNum" sz="quarter" idx="12"/>
          </p:nvPr>
        </p:nvSpPr>
        <p:spPr/>
        <p:txBody>
          <a:bodyPr/>
          <a:lstStyle/>
          <a:p>
            <a:fld id="{589D57E3-CE42-484A-9418-5D9606B9D8FD}" type="slidenum">
              <a:rPr lang="LID4096" smtClean="0"/>
              <a:t>‹#›</a:t>
            </a:fld>
            <a:endParaRPr lang="LID4096"/>
          </a:p>
        </p:txBody>
      </p:sp>
    </p:spTree>
    <p:extLst>
      <p:ext uri="{BB962C8B-B14F-4D97-AF65-F5344CB8AC3E}">
        <p14:creationId xmlns:p14="http://schemas.microsoft.com/office/powerpoint/2010/main" val="1693797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89531-ABC2-1A90-3317-85A842A344B1}"/>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EE542ED6-ED33-1085-2907-253DFFB99A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Content Placeholder 3">
            <a:extLst>
              <a:ext uri="{FF2B5EF4-FFF2-40B4-BE49-F238E27FC236}">
                <a16:creationId xmlns:a16="http://schemas.microsoft.com/office/drawing/2014/main" id="{087915B2-F619-D595-54E1-DFFC3087B9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Date Placeholder 4">
            <a:extLst>
              <a:ext uri="{FF2B5EF4-FFF2-40B4-BE49-F238E27FC236}">
                <a16:creationId xmlns:a16="http://schemas.microsoft.com/office/drawing/2014/main" id="{3334940C-D7EA-7977-C8D6-F0E48C1CBFF0}"/>
              </a:ext>
            </a:extLst>
          </p:cNvPr>
          <p:cNvSpPr>
            <a:spLocks noGrp="1"/>
          </p:cNvSpPr>
          <p:nvPr>
            <p:ph type="dt" sz="half" idx="10"/>
          </p:nvPr>
        </p:nvSpPr>
        <p:spPr/>
        <p:txBody>
          <a:bodyPr/>
          <a:lstStyle/>
          <a:p>
            <a:fld id="{831638ED-2231-4166-94B9-59DC58973E71}" type="datetimeFigureOut">
              <a:rPr lang="LID4096" smtClean="0"/>
              <a:t>08/12/2026</a:t>
            </a:fld>
            <a:endParaRPr lang="LID4096"/>
          </a:p>
        </p:txBody>
      </p:sp>
      <p:sp>
        <p:nvSpPr>
          <p:cNvPr id="6" name="Footer Placeholder 5">
            <a:extLst>
              <a:ext uri="{FF2B5EF4-FFF2-40B4-BE49-F238E27FC236}">
                <a16:creationId xmlns:a16="http://schemas.microsoft.com/office/drawing/2014/main" id="{27BCD385-BB2D-7B90-C00B-E20954DF8532}"/>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8549DFF4-B7C7-4F40-3780-45FC0B2EE6AC}"/>
              </a:ext>
            </a:extLst>
          </p:cNvPr>
          <p:cNvSpPr>
            <a:spLocks noGrp="1"/>
          </p:cNvSpPr>
          <p:nvPr>
            <p:ph type="sldNum" sz="quarter" idx="12"/>
          </p:nvPr>
        </p:nvSpPr>
        <p:spPr/>
        <p:txBody>
          <a:bodyPr/>
          <a:lstStyle/>
          <a:p>
            <a:fld id="{589D57E3-CE42-484A-9418-5D9606B9D8FD}" type="slidenum">
              <a:rPr lang="LID4096" smtClean="0"/>
              <a:t>‹#›</a:t>
            </a:fld>
            <a:endParaRPr lang="LID4096"/>
          </a:p>
        </p:txBody>
      </p:sp>
    </p:spTree>
    <p:extLst>
      <p:ext uri="{BB962C8B-B14F-4D97-AF65-F5344CB8AC3E}">
        <p14:creationId xmlns:p14="http://schemas.microsoft.com/office/powerpoint/2010/main" val="227001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EB304-9FF7-5ACB-5F46-D2DBAC2334F4}"/>
              </a:ext>
            </a:extLst>
          </p:cNvPr>
          <p:cNvSpPr>
            <a:spLocks noGrp="1"/>
          </p:cNvSpPr>
          <p:nvPr>
            <p:ph type="title"/>
          </p:nvPr>
        </p:nvSpPr>
        <p:spPr>
          <a:xfrm>
            <a:off x="839788" y="365125"/>
            <a:ext cx="10515600" cy="1325563"/>
          </a:xfrm>
        </p:spPr>
        <p:txBody>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C346E9B4-CF65-EE54-50D9-0749ABCF07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C7B0F6-AA3E-065A-11B2-FD26ACB09B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Text Placeholder 4">
            <a:extLst>
              <a:ext uri="{FF2B5EF4-FFF2-40B4-BE49-F238E27FC236}">
                <a16:creationId xmlns:a16="http://schemas.microsoft.com/office/drawing/2014/main" id="{9547A437-5DD2-8D09-2A90-5D733EDCF6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5767C3C-3D70-9CD5-6710-A358270E7E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7" name="Date Placeholder 6">
            <a:extLst>
              <a:ext uri="{FF2B5EF4-FFF2-40B4-BE49-F238E27FC236}">
                <a16:creationId xmlns:a16="http://schemas.microsoft.com/office/drawing/2014/main" id="{A6CF2851-349E-7450-F7A0-770518EFA3E5}"/>
              </a:ext>
            </a:extLst>
          </p:cNvPr>
          <p:cNvSpPr>
            <a:spLocks noGrp="1"/>
          </p:cNvSpPr>
          <p:nvPr>
            <p:ph type="dt" sz="half" idx="10"/>
          </p:nvPr>
        </p:nvSpPr>
        <p:spPr/>
        <p:txBody>
          <a:bodyPr/>
          <a:lstStyle/>
          <a:p>
            <a:fld id="{831638ED-2231-4166-94B9-59DC58973E71}" type="datetimeFigureOut">
              <a:rPr lang="LID4096" smtClean="0"/>
              <a:t>08/12/2026</a:t>
            </a:fld>
            <a:endParaRPr lang="LID4096"/>
          </a:p>
        </p:txBody>
      </p:sp>
      <p:sp>
        <p:nvSpPr>
          <p:cNvPr id="8" name="Footer Placeholder 7">
            <a:extLst>
              <a:ext uri="{FF2B5EF4-FFF2-40B4-BE49-F238E27FC236}">
                <a16:creationId xmlns:a16="http://schemas.microsoft.com/office/drawing/2014/main" id="{E5980EF6-7820-F775-DA99-B9066A8DF8EA}"/>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EA6C6033-45B9-F824-4AE9-9588CC418926}"/>
              </a:ext>
            </a:extLst>
          </p:cNvPr>
          <p:cNvSpPr>
            <a:spLocks noGrp="1"/>
          </p:cNvSpPr>
          <p:nvPr>
            <p:ph type="sldNum" sz="quarter" idx="12"/>
          </p:nvPr>
        </p:nvSpPr>
        <p:spPr/>
        <p:txBody>
          <a:bodyPr/>
          <a:lstStyle/>
          <a:p>
            <a:fld id="{589D57E3-CE42-484A-9418-5D9606B9D8FD}" type="slidenum">
              <a:rPr lang="LID4096" smtClean="0"/>
              <a:t>‹#›</a:t>
            </a:fld>
            <a:endParaRPr lang="LID4096"/>
          </a:p>
        </p:txBody>
      </p:sp>
    </p:spTree>
    <p:extLst>
      <p:ext uri="{BB962C8B-B14F-4D97-AF65-F5344CB8AC3E}">
        <p14:creationId xmlns:p14="http://schemas.microsoft.com/office/powerpoint/2010/main" val="30196151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BDE68-3219-F707-6960-CEEA32322553}"/>
              </a:ext>
            </a:extLst>
          </p:cNvPr>
          <p:cNvSpPr>
            <a:spLocks noGrp="1"/>
          </p:cNvSpPr>
          <p:nvPr>
            <p:ph type="title"/>
          </p:nvPr>
        </p:nvSpPr>
        <p:spPr/>
        <p:txBody>
          <a:bodyPr/>
          <a:lstStyle/>
          <a:p>
            <a:r>
              <a:rPr lang="en-US"/>
              <a:t>Click to edit Master title style</a:t>
            </a:r>
            <a:endParaRPr lang="LID4096"/>
          </a:p>
        </p:txBody>
      </p:sp>
      <p:sp>
        <p:nvSpPr>
          <p:cNvPr id="3" name="Date Placeholder 2">
            <a:extLst>
              <a:ext uri="{FF2B5EF4-FFF2-40B4-BE49-F238E27FC236}">
                <a16:creationId xmlns:a16="http://schemas.microsoft.com/office/drawing/2014/main" id="{CA2930AA-F21A-4F88-9D30-B62A482D943B}"/>
              </a:ext>
            </a:extLst>
          </p:cNvPr>
          <p:cNvSpPr>
            <a:spLocks noGrp="1"/>
          </p:cNvSpPr>
          <p:nvPr>
            <p:ph type="dt" sz="half" idx="10"/>
          </p:nvPr>
        </p:nvSpPr>
        <p:spPr/>
        <p:txBody>
          <a:bodyPr/>
          <a:lstStyle/>
          <a:p>
            <a:fld id="{831638ED-2231-4166-94B9-59DC58973E71}" type="datetimeFigureOut">
              <a:rPr lang="LID4096" smtClean="0"/>
              <a:t>08/12/2026</a:t>
            </a:fld>
            <a:endParaRPr lang="LID4096"/>
          </a:p>
        </p:txBody>
      </p:sp>
      <p:sp>
        <p:nvSpPr>
          <p:cNvPr id="4" name="Footer Placeholder 3">
            <a:extLst>
              <a:ext uri="{FF2B5EF4-FFF2-40B4-BE49-F238E27FC236}">
                <a16:creationId xmlns:a16="http://schemas.microsoft.com/office/drawing/2014/main" id="{03324613-8F4C-8A2B-B8BA-BE52CEB7BC08}"/>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125E39B8-D8F7-ADBD-AA20-171C1D9FDB83}"/>
              </a:ext>
            </a:extLst>
          </p:cNvPr>
          <p:cNvSpPr>
            <a:spLocks noGrp="1"/>
          </p:cNvSpPr>
          <p:nvPr>
            <p:ph type="sldNum" sz="quarter" idx="12"/>
          </p:nvPr>
        </p:nvSpPr>
        <p:spPr/>
        <p:txBody>
          <a:bodyPr/>
          <a:lstStyle/>
          <a:p>
            <a:fld id="{589D57E3-CE42-484A-9418-5D9606B9D8FD}" type="slidenum">
              <a:rPr lang="LID4096" smtClean="0"/>
              <a:t>‹#›</a:t>
            </a:fld>
            <a:endParaRPr lang="LID4096"/>
          </a:p>
        </p:txBody>
      </p:sp>
    </p:spTree>
    <p:extLst>
      <p:ext uri="{BB962C8B-B14F-4D97-AF65-F5344CB8AC3E}">
        <p14:creationId xmlns:p14="http://schemas.microsoft.com/office/powerpoint/2010/main" val="2989817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F5A32B-8E4E-A20D-716E-DFC4F7595C8A}"/>
              </a:ext>
            </a:extLst>
          </p:cNvPr>
          <p:cNvSpPr>
            <a:spLocks noGrp="1"/>
          </p:cNvSpPr>
          <p:nvPr>
            <p:ph type="dt" sz="half" idx="10"/>
          </p:nvPr>
        </p:nvSpPr>
        <p:spPr/>
        <p:txBody>
          <a:bodyPr/>
          <a:lstStyle/>
          <a:p>
            <a:fld id="{831638ED-2231-4166-94B9-59DC58973E71}" type="datetimeFigureOut">
              <a:rPr lang="LID4096" smtClean="0"/>
              <a:t>08/12/2026</a:t>
            </a:fld>
            <a:endParaRPr lang="LID4096"/>
          </a:p>
        </p:txBody>
      </p:sp>
      <p:sp>
        <p:nvSpPr>
          <p:cNvPr id="3" name="Footer Placeholder 2">
            <a:extLst>
              <a:ext uri="{FF2B5EF4-FFF2-40B4-BE49-F238E27FC236}">
                <a16:creationId xmlns:a16="http://schemas.microsoft.com/office/drawing/2014/main" id="{0D3037AD-E116-590C-D7B7-45DBF1EB8E20}"/>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82D98F00-0620-CBEA-6911-B3263CDDB267}"/>
              </a:ext>
            </a:extLst>
          </p:cNvPr>
          <p:cNvSpPr>
            <a:spLocks noGrp="1"/>
          </p:cNvSpPr>
          <p:nvPr>
            <p:ph type="sldNum" sz="quarter" idx="12"/>
          </p:nvPr>
        </p:nvSpPr>
        <p:spPr/>
        <p:txBody>
          <a:bodyPr/>
          <a:lstStyle/>
          <a:p>
            <a:fld id="{589D57E3-CE42-484A-9418-5D9606B9D8FD}" type="slidenum">
              <a:rPr lang="LID4096" smtClean="0"/>
              <a:t>‹#›</a:t>
            </a:fld>
            <a:endParaRPr lang="LID4096"/>
          </a:p>
        </p:txBody>
      </p:sp>
    </p:spTree>
    <p:extLst>
      <p:ext uri="{BB962C8B-B14F-4D97-AF65-F5344CB8AC3E}">
        <p14:creationId xmlns:p14="http://schemas.microsoft.com/office/powerpoint/2010/main" val="2412066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2736-D1FE-721D-9EB5-9D9F45E02A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Content Placeholder 2">
            <a:extLst>
              <a:ext uri="{FF2B5EF4-FFF2-40B4-BE49-F238E27FC236}">
                <a16:creationId xmlns:a16="http://schemas.microsoft.com/office/drawing/2014/main" id="{92B32629-287A-172D-F7D3-4D97957B27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Text Placeholder 3">
            <a:extLst>
              <a:ext uri="{FF2B5EF4-FFF2-40B4-BE49-F238E27FC236}">
                <a16:creationId xmlns:a16="http://schemas.microsoft.com/office/drawing/2014/main" id="{353CE360-897C-8BB7-74C5-D9DBBEAFE8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CC414A-59DA-B9B1-5F59-F37D96C9B64F}"/>
              </a:ext>
            </a:extLst>
          </p:cNvPr>
          <p:cNvSpPr>
            <a:spLocks noGrp="1"/>
          </p:cNvSpPr>
          <p:nvPr>
            <p:ph type="dt" sz="half" idx="10"/>
          </p:nvPr>
        </p:nvSpPr>
        <p:spPr/>
        <p:txBody>
          <a:bodyPr/>
          <a:lstStyle/>
          <a:p>
            <a:fld id="{831638ED-2231-4166-94B9-59DC58973E71}" type="datetimeFigureOut">
              <a:rPr lang="LID4096" smtClean="0"/>
              <a:t>08/12/2026</a:t>
            </a:fld>
            <a:endParaRPr lang="LID4096"/>
          </a:p>
        </p:txBody>
      </p:sp>
      <p:sp>
        <p:nvSpPr>
          <p:cNvPr id="6" name="Footer Placeholder 5">
            <a:extLst>
              <a:ext uri="{FF2B5EF4-FFF2-40B4-BE49-F238E27FC236}">
                <a16:creationId xmlns:a16="http://schemas.microsoft.com/office/drawing/2014/main" id="{6ECE0512-F7AC-45CF-E754-0658ED88A683}"/>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6E9C6A63-2F29-AA5E-E23C-BAEB9F3F2270}"/>
              </a:ext>
            </a:extLst>
          </p:cNvPr>
          <p:cNvSpPr>
            <a:spLocks noGrp="1"/>
          </p:cNvSpPr>
          <p:nvPr>
            <p:ph type="sldNum" sz="quarter" idx="12"/>
          </p:nvPr>
        </p:nvSpPr>
        <p:spPr/>
        <p:txBody>
          <a:bodyPr/>
          <a:lstStyle/>
          <a:p>
            <a:fld id="{589D57E3-CE42-484A-9418-5D9606B9D8FD}" type="slidenum">
              <a:rPr lang="LID4096" smtClean="0"/>
              <a:t>‹#›</a:t>
            </a:fld>
            <a:endParaRPr lang="LID4096"/>
          </a:p>
        </p:txBody>
      </p:sp>
    </p:spTree>
    <p:extLst>
      <p:ext uri="{BB962C8B-B14F-4D97-AF65-F5344CB8AC3E}">
        <p14:creationId xmlns:p14="http://schemas.microsoft.com/office/powerpoint/2010/main" val="3264231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CFC37-B261-0EAC-7C45-549BE67934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Picture Placeholder 2">
            <a:extLst>
              <a:ext uri="{FF2B5EF4-FFF2-40B4-BE49-F238E27FC236}">
                <a16:creationId xmlns:a16="http://schemas.microsoft.com/office/drawing/2014/main" id="{E94688D3-0C0B-2003-981C-DE58DBE1AD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B95AB377-1FA4-8F42-1290-17B6EE7C2E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1E1D12-ACCE-CED1-564A-C4815329BFE5}"/>
              </a:ext>
            </a:extLst>
          </p:cNvPr>
          <p:cNvSpPr>
            <a:spLocks noGrp="1"/>
          </p:cNvSpPr>
          <p:nvPr>
            <p:ph type="dt" sz="half" idx="10"/>
          </p:nvPr>
        </p:nvSpPr>
        <p:spPr/>
        <p:txBody>
          <a:bodyPr/>
          <a:lstStyle/>
          <a:p>
            <a:fld id="{831638ED-2231-4166-94B9-59DC58973E71}" type="datetimeFigureOut">
              <a:rPr lang="LID4096" smtClean="0"/>
              <a:t>08/12/2026</a:t>
            </a:fld>
            <a:endParaRPr lang="LID4096"/>
          </a:p>
        </p:txBody>
      </p:sp>
      <p:sp>
        <p:nvSpPr>
          <p:cNvPr id="6" name="Footer Placeholder 5">
            <a:extLst>
              <a:ext uri="{FF2B5EF4-FFF2-40B4-BE49-F238E27FC236}">
                <a16:creationId xmlns:a16="http://schemas.microsoft.com/office/drawing/2014/main" id="{FE48537F-8E21-4DE8-E78D-D96D1E2C29A8}"/>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227DFFBF-C926-BDB9-4A05-932FD098DBAE}"/>
              </a:ext>
            </a:extLst>
          </p:cNvPr>
          <p:cNvSpPr>
            <a:spLocks noGrp="1"/>
          </p:cNvSpPr>
          <p:nvPr>
            <p:ph type="sldNum" sz="quarter" idx="12"/>
          </p:nvPr>
        </p:nvSpPr>
        <p:spPr/>
        <p:txBody>
          <a:bodyPr/>
          <a:lstStyle/>
          <a:p>
            <a:fld id="{589D57E3-CE42-484A-9418-5D9606B9D8FD}" type="slidenum">
              <a:rPr lang="LID4096" smtClean="0"/>
              <a:t>‹#›</a:t>
            </a:fld>
            <a:endParaRPr lang="LID4096"/>
          </a:p>
        </p:txBody>
      </p:sp>
    </p:spTree>
    <p:extLst>
      <p:ext uri="{BB962C8B-B14F-4D97-AF65-F5344CB8AC3E}">
        <p14:creationId xmlns:p14="http://schemas.microsoft.com/office/powerpoint/2010/main" val="373024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D6B68-32C4-DC95-5C56-0FF439FB9581}"/>
              </a:ext>
            </a:extLst>
          </p:cNvPr>
          <p:cNvSpPr>
            <a:spLocks noGrp="1"/>
          </p:cNvSpPr>
          <p:nvPr>
            <p:ph type="title"/>
          </p:nvPr>
        </p:nvSpPr>
        <p:spPr/>
        <p:txBody>
          <a:bodyPr/>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D04DE74A-2233-89BD-09F8-A1982A2B2C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276FFBB9-35C6-860B-5E47-660EF0230D6E}"/>
              </a:ext>
            </a:extLst>
          </p:cNvPr>
          <p:cNvSpPr>
            <a:spLocks noGrp="1"/>
          </p:cNvSpPr>
          <p:nvPr>
            <p:ph type="dt" sz="half" idx="10"/>
          </p:nvPr>
        </p:nvSpPr>
        <p:spPr/>
        <p:txBody>
          <a:bodyPr/>
          <a:lstStyle/>
          <a:p>
            <a:fld id="{831638ED-2231-4166-94B9-59DC58973E71}" type="datetimeFigureOut">
              <a:rPr lang="LID4096" smtClean="0"/>
              <a:t>08/12/2026</a:t>
            </a:fld>
            <a:endParaRPr lang="LID4096"/>
          </a:p>
        </p:txBody>
      </p:sp>
      <p:sp>
        <p:nvSpPr>
          <p:cNvPr id="5" name="Footer Placeholder 4">
            <a:extLst>
              <a:ext uri="{FF2B5EF4-FFF2-40B4-BE49-F238E27FC236}">
                <a16:creationId xmlns:a16="http://schemas.microsoft.com/office/drawing/2014/main" id="{1DBC8346-AA79-729B-02F2-67C3365404A1}"/>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A23EDA61-CBA4-0526-AC3F-ADA9C399A49E}"/>
              </a:ext>
            </a:extLst>
          </p:cNvPr>
          <p:cNvSpPr>
            <a:spLocks noGrp="1"/>
          </p:cNvSpPr>
          <p:nvPr>
            <p:ph type="sldNum" sz="quarter" idx="12"/>
          </p:nvPr>
        </p:nvSpPr>
        <p:spPr/>
        <p:txBody>
          <a:bodyPr/>
          <a:lstStyle/>
          <a:p>
            <a:fld id="{589D57E3-CE42-484A-9418-5D9606B9D8FD}" type="slidenum">
              <a:rPr lang="LID4096" smtClean="0"/>
              <a:t>‹#›</a:t>
            </a:fld>
            <a:endParaRPr lang="LID4096"/>
          </a:p>
        </p:txBody>
      </p:sp>
    </p:spTree>
    <p:extLst>
      <p:ext uri="{BB962C8B-B14F-4D97-AF65-F5344CB8AC3E}">
        <p14:creationId xmlns:p14="http://schemas.microsoft.com/office/powerpoint/2010/main" val="2303366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06A495-61EC-82BF-4E98-60F7659E866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C3F39491-F8C6-6E44-2C1E-4BABF883F4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AB1BDCCD-7F9A-EA27-741C-9DF21266A8FD}"/>
              </a:ext>
            </a:extLst>
          </p:cNvPr>
          <p:cNvSpPr>
            <a:spLocks noGrp="1"/>
          </p:cNvSpPr>
          <p:nvPr>
            <p:ph type="dt" sz="half" idx="10"/>
          </p:nvPr>
        </p:nvSpPr>
        <p:spPr/>
        <p:txBody>
          <a:bodyPr/>
          <a:lstStyle/>
          <a:p>
            <a:fld id="{831638ED-2231-4166-94B9-59DC58973E71}" type="datetimeFigureOut">
              <a:rPr lang="LID4096" smtClean="0"/>
              <a:t>08/12/2026</a:t>
            </a:fld>
            <a:endParaRPr lang="LID4096"/>
          </a:p>
        </p:txBody>
      </p:sp>
      <p:sp>
        <p:nvSpPr>
          <p:cNvPr id="5" name="Footer Placeholder 4">
            <a:extLst>
              <a:ext uri="{FF2B5EF4-FFF2-40B4-BE49-F238E27FC236}">
                <a16:creationId xmlns:a16="http://schemas.microsoft.com/office/drawing/2014/main" id="{5B060193-C31B-E94E-868F-F508A419FB9D}"/>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AAF57B5B-846B-5528-C508-5CB0A5E77498}"/>
              </a:ext>
            </a:extLst>
          </p:cNvPr>
          <p:cNvSpPr>
            <a:spLocks noGrp="1"/>
          </p:cNvSpPr>
          <p:nvPr>
            <p:ph type="sldNum" sz="quarter" idx="12"/>
          </p:nvPr>
        </p:nvSpPr>
        <p:spPr/>
        <p:txBody>
          <a:bodyPr/>
          <a:lstStyle/>
          <a:p>
            <a:fld id="{589D57E3-CE42-484A-9418-5D9606B9D8FD}" type="slidenum">
              <a:rPr lang="LID4096" smtClean="0"/>
              <a:t>‹#›</a:t>
            </a:fld>
            <a:endParaRPr lang="LID4096"/>
          </a:p>
        </p:txBody>
      </p:sp>
    </p:spTree>
    <p:extLst>
      <p:ext uri="{BB962C8B-B14F-4D97-AF65-F5344CB8AC3E}">
        <p14:creationId xmlns:p14="http://schemas.microsoft.com/office/powerpoint/2010/main" val="521955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181B21"/>
            </a:gs>
            <a:gs pos="100000">
              <a:srgbClr val="101216"/>
            </a:gs>
          </a:gsLst>
          <a:lin ang="2700000" scaled="1"/>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80F8AD-74EF-266F-6646-6DF6B11CBE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895D74CD-C10D-1C98-010C-B82EE82CF8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A8BBC9CC-1DFF-2527-4305-FDE01587FE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31638ED-2231-4166-94B9-59DC58973E71}" type="datetimeFigureOut">
              <a:rPr lang="LID4096" smtClean="0"/>
              <a:t>08/12/2026</a:t>
            </a:fld>
            <a:endParaRPr lang="LID4096"/>
          </a:p>
        </p:txBody>
      </p:sp>
      <p:sp>
        <p:nvSpPr>
          <p:cNvPr id="5" name="Footer Placeholder 4">
            <a:extLst>
              <a:ext uri="{FF2B5EF4-FFF2-40B4-BE49-F238E27FC236}">
                <a16:creationId xmlns:a16="http://schemas.microsoft.com/office/drawing/2014/main" id="{D2754DB0-D30E-749F-A05C-BB9763C5C7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LID4096"/>
          </a:p>
        </p:txBody>
      </p:sp>
      <p:sp>
        <p:nvSpPr>
          <p:cNvPr id="6" name="Slide Number Placeholder 5">
            <a:extLst>
              <a:ext uri="{FF2B5EF4-FFF2-40B4-BE49-F238E27FC236}">
                <a16:creationId xmlns:a16="http://schemas.microsoft.com/office/drawing/2014/main" id="{748104F8-037A-38B8-F391-A7DD773326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89D57E3-CE42-484A-9418-5D9606B9D8FD}" type="slidenum">
              <a:rPr lang="LID4096" smtClean="0"/>
              <a:t>‹#›</a:t>
            </a:fld>
            <a:endParaRPr lang="LID4096"/>
          </a:p>
        </p:txBody>
      </p:sp>
      <p:sp>
        <p:nvSpPr>
          <p:cNvPr id="901" name="AccentBar"/>
          <p:cNvSpPr/>
          <p:nvPr/>
        </p:nvSpPr>
        <p:spPr>
          <a:xfrm>
            <a:off x="0" y="0"/>
            <a:ext cx="76200" cy="6858000"/>
          </a:xfrm>
          <a:prstGeom prst="rect">
            <a:avLst/>
          </a:prstGeom>
          <a:solidFill>
            <a:srgbClr val="4FC3F7"/>
          </a:solidFill>
          <a:ln>
            <a:noFill/>
          </a:ln>
        </p:spPr>
        <p:txBody>
          <a:bodyPr/>
          <a:lstStyle/>
          <a:p>
            <a:endParaRPr/>
          </a:p>
        </p:txBody>
      </p:sp>
    </p:spTree>
    <p:extLst>
      <p:ext uri="{BB962C8B-B14F-4D97-AF65-F5344CB8AC3E}">
        <p14:creationId xmlns:p14="http://schemas.microsoft.com/office/powerpoint/2010/main" val="230979453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rgbClr val="FFFFFF"/>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D6DAE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D6DAE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D6DAE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D6DAE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D6DAE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D6DAE0"/>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D6DAE0"/>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D6DAE0"/>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D6DAE0"/>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3E686-6664-6234-8018-02313E145692}"/>
              </a:ext>
            </a:extLst>
          </p:cNvPr>
          <p:cNvSpPr>
            <a:spLocks noGrp="1"/>
          </p:cNvSpPr>
          <p:nvPr>
            <p:ph type="ctrTitle"/>
          </p:nvPr>
        </p:nvSpPr>
        <p:spPr/>
        <p:txBody>
          <a:bodyPr/>
          <a:lstStyle/>
          <a:p>
            <a:r>
              <a:rPr lang="en-US"/>
              <a:t>The Folder IS the App</a:t>
            </a:r>
            <a:endParaRPr lang="LID4096"/>
          </a:p>
        </p:txBody>
      </p:sp>
      <p:sp>
        <p:nvSpPr>
          <p:cNvPr id="3" name="Subtitle 2">
            <a:extLst>
              <a:ext uri="{FF2B5EF4-FFF2-40B4-BE49-F238E27FC236}">
                <a16:creationId xmlns:a16="http://schemas.microsoft.com/office/drawing/2014/main" id="{812D0A2B-CB5C-F810-A179-0227977B9036}"/>
              </a:ext>
            </a:extLst>
          </p:cNvPr>
          <p:cNvSpPr>
            <a:spLocks noGrp="1"/>
          </p:cNvSpPr>
          <p:nvPr>
            <p:ph type="subTitle" idx="1"/>
          </p:nvPr>
        </p:nvSpPr>
        <p:spPr/>
        <p:txBody>
          <a:bodyPr/>
          <a:lstStyle/>
          <a:p>
            <a:r>
              <a:rPr lang="en-US"/>
              <a:t>A 3-layer folder architecture for domain knowledge — replacing agents, plugins, and SKILL.md bundles</a:t>
            </a:r>
            <a:endParaRPr lang="LID4096"/>
          </a:p>
        </p:txBody>
      </p:sp>
    </p:spTree>
    <p:extLst>
      <p:ext uri="{BB962C8B-B14F-4D97-AF65-F5344CB8AC3E}">
        <p14:creationId xmlns:p14="http://schemas.microsoft.com/office/powerpoint/2010/main" val="1424757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CA0E0-7706-5634-A5BC-9CBA0CF586DF}"/>
              </a:ext>
            </a:extLst>
          </p:cNvPr>
          <p:cNvSpPr>
            <a:spLocks noGrp="1"/>
          </p:cNvSpPr>
          <p:nvPr>
            <p:ph type="title"/>
          </p:nvPr>
        </p:nvSpPr>
        <p:spPr/>
        <p:txBody>
          <a:bodyPr/>
          <a:lstStyle/>
          <a:p>
            <a:r>
              <a:rPr lang="en-US" dirty="0"/>
              <a:t>What we’ll walk through</a:t>
            </a:r>
          </a:p>
        </p:txBody>
      </p:sp>
      <p:sp>
        <p:nvSpPr>
          <p:cNvPr id="900" name="Sec"/>
          <p:cNvSpPr/>
          <p:nvPr/>
        </p:nvSpPr>
        <p:spPr>
          <a:xfrm>
            <a:off x="838200" y="2006600"/>
            <a:ext cx="5156200" cy="1981200"/>
          </a:xfrm>
          <a:prstGeom prst="roundRect">
            <a:avLst>
              <a:gd name="adj" fmla="val 7000"/>
            </a:avLst>
          </a:prstGeom>
          <a:solidFill>
            <a:srgbClr val="1C2027"/>
          </a:solidFill>
          <a:ln w="12700">
            <a:solidFill>
              <a:srgbClr val="4FC3F7"/>
            </a:solidFill>
          </a:ln>
        </p:spPr>
        <p:txBody>
          <a:bodyPr lIns="228600" tIns="203200" rIns="228600" bIns="177800" anchor="t">
            <a:noAutofit/>
          </a:bodyPr>
          <a:lstStyle/>
          <a:p>
            <a:pPr algn="l">
              <a:buNone/>
            </a:pPr>
            <a:r>
              <a:rPr lang="en-US" sz="1800" b="1" dirty="0">
                <a:solidFill>
                  <a:srgbClr val="4FC3F7"/>
                </a:solidFill>
                <a:latin typeface="Consolas"/>
              </a:rPr>
              <a:t>01</a:t>
            </a:r>
            <a:r>
              <a:rPr lang="en-US" sz="2400" b="1" dirty="0">
                <a:solidFill>
                  <a:srgbClr val="FFFFFF"/>
                </a:solidFill>
              </a:rPr>
              <a:t>   The case</a:t>
            </a:r>
          </a:p>
          <a:p>
            <a:pPr algn="l">
              <a:spcBef>
                <a:spcPts val="600"/>
              </a:spcBef>
              <a:buNone/>
            </a:pPr>
            <a:r>
              <a:rPr lang="en-US" sz="1500" dirty="0">
                <a:solidFill>
                  <a:srgbClr val="AAB2BC"/>
                </a:solidFill>
              </a:rPr>
              <a:t>Why a folder beats a skill bundle — the loading problem, the three layers, the five principles, and the cost math.</a:t>
            </a:r>
          </a:p>
        </p:txBody>
      </p:sp>
      <p:sp>
        <p:nvSpPr>
          <p:cNvPr id="901" name="Sec"/>
          <p:cNvSpPr/>
          <p:nvPr/>
        </p:nvSpPr>
        <p:spPr>
          <a:xfrm>
            <a:off x="6197600" y="2006600"/>
            <a:ext cx="5156200" cy="1981200"/>
          </a:xfrm>
          <a:prstGeom prst="roundRect">
            <a:avLst>
              <a:gd name="adj" fmla="val 7000"/>
            </a:avLst>
          </a:prstGeom>
          <a:solidFill>
            <a:srgbClr val="1C2027"/>
          </a:solidFill>
          <a:ln w="12700">
            <a:solidFill>
              <a:srgbClr val="FFB74D"/>
            </a:solidFill>
          </a:ln>
        </p:spPr>
        <p:txBody>
          <a:bodyPr lIns="228600" tIns="203200" rIns="228600" bIns="177800" anchor="t">
            <a:noAutofit/>
          </a:bodyPr>
          <a:lstStyle/>
          <a:p>
            <a:pPr algn="l">
              <a:buNone/>
            </a:pPr>
            <a:r>
              <a:rPr lang="en-US" sz="1800" b="1" dirty="0">
                <a:solidFill>
                  <a:srgbClr val="FFB74D"/>
                </a:solidFill>
                <a:latin typeface="Consolas"/>
              </a:rPr>
              <a:t>02</a:t>
            </a:r>
            <a:r>
              <a:rPr lang="en-US" sz="2400" b="1" dirty="0">
                <a:solidFill>
                  <a:srgbClr val="FFFFFF"/>
                </a:solidFill>
              </a:rPr>
              <a:t>   The layout</a:t>
            </a:r>
          </a:p>
          <a:p>
            <a:pPr algn="l">
              <a:spcBef>
                <a:spcPts val="600"/>
              </a:spcBef>
              <a:buNone/>
            </a:pPr>
            <a:r>
              <a:rPr lang="en-US" sz="1500" dirty="0">
                <a:solidFill>
                  <a:srgbClr val="AAB2BC"/>
                </a:solidFill>
              </a:rPr>
              <a:t>How the workspace is arranged — two blueprints, ~506 atomic files, and where each kind of thing lives.</a:t>
            </a:r>
          </a:p>
        </p:txBody>
      </p:sp>
      <p:sp>
        <p:nvSpPr>
          <p:cNvPr id="902" name="Sec"/>
          <p:cNvSpPr/>
          <p:nvPr/>
        </p:nvSpPr>
        <p:spPr>
          <a:xfrm>
            <a:off x="838200" y="4191000"/>
            <a:ext cx="5156200" cy="1981200"/>
          </a:xfrm>
          <a:prstGeom prst="roundRect">
            <a:avLst>
              <a:gd name="adj" fmla="val 7000"/>
            </a:avLst>
          </a:prstGeom>
          <a:solidFill>
            <a:srgbClr val="1C2027"/>
          </a:solidFill>
          <a:ln w="12700">
            <a:solidFill>
              <a:srgbClr val="66BB6A"/>
            </a:solidFill>
          </a:ln>
        </p:spPr>
        <p:txBody>
          <a:bodyPr lIns="228600" tIns="203200" rIns="228600" bIns="177800" anchor="t">
            <a:noAutofit/>
          </a:bodyPr>
          <a:lstStyle/>
          <a:p>
            <a:pPr algn="l">
              <a:buNone/>
            </a:pPr>
            <a:r>
              <a:rPr lang="en-US" sz="1800" b="1" dirty="0">
                <a:solidFill>
                  <a:srgbClr val="66BB6A"/>
                </a:solidFill>
                <a:latin typeface="Consolas"/>
              </a:rPr>
              <a:t>03</a:t>
            </a:r>
            <a:r>
              <a:rPr lang="en-US" sz="2400" b="1" dirty="0">
                <a:solidFill>
                  <a:srgbClr val="FFFFFF"/>
                </a:solidFill>
              </a:rPr>
              <a:t>   The workflows</a:t>
            </a:r>
          </a:p>
          <a:p>
            <a:pPr algn="l">
              <a:spcBef>
                <a:spcPts val="600"/>
              </a:spcBef>
              <a:buNone/>
            </a:pPr>
            <a:r>
              <a:rPr lang="en-US" sz="1500" dirty="0">
                <a:solidFill>
                  <a:srgbClr val="AAB2BC"/>
                </a:solidFill>
              </a:rPr>
              <a:t>Six patterns in motion — intent routing, brief-first execution, hooks, tier preference, theme authoring.</a:t>
            </a:r>
          </a:p>
        </p:txBody>
      </p:sp>
      <p:sp>
        <p:nvSpPr>
          <p:cNvPr id="903" name="Sec"/>
          <p:cNvSpPr/>
          <p:nvPr/>
        </p:nvSpPr>
        <p:spPr>
          <a:xfrm>
            <a:off x="6197600" y="4191000"/>
            <a:ext cx="5156200" cy="1981200"/>
          </a:xfrm>
          <a:prstGeom prst="roundRect">
            <a:avLst>
              <a:gd name="adj" fmla="val 7000"/>
            </a:avLst>
          </a:prstGeom>
          <a:solidFill>
            <a:srgbClr val="1C2027"/>
          </a:solidFill>
          <a:ln w="12700">
            <a:solidFill>
              <a:srgbClr val="BA68C8"/>
            </a:solidFill>
          </a:ln>
        </p:spPr>
        <p:txBody>
          <a:bodyPr lIns="228600" tIns="203200" rIns="228600" bIns="177800" anchor="t">
            <a:noAutofit/>
          </a:bodyPr>
          <a:lstStyle/>
          <a:p>
            <a:pPr algn="l">
              <a:buNone/>
            </a:pPr>
            <a:r>
              <a:rPr lang="en-US" sz="1800" b="1" dirty="0">
                <a:solidFill>
                  <a:srgbClr val="BA68C8"/>
                </a:solidFill>
                <a:latin typeface="Consolas"/>
              </a:rPr>
              <a:t>04</a:t>
            </a:r>
            <a:r>
              <a:rPr lang="en-US" sz="2400" b="1" dirty="0">
                <a:solidFill>
                  <a:srgbClr val="FFFFFF"/>
                </a:solidFill>
              </a:rPr>
              <a:t>   The pitch</a:t>
            </a:r>
          </a:p>
          <a:p>
            <a:pPr algn="l">
              <a:spcBef>
                <a:spcPts val="600"/>
              </a:spcBef>
              <a:buNone/>
            </a:pPr>
            <a:r>
              <a:rPr lang="en-US" sz="1500" dirty="0">
                <a:solidFill>
                  <a:srgbClr val="AAB2BC"/>
                </a:solidFill>
              </a:rPr>
              <a:t>How to extend it to a new tool, what this deliberately is not, and the 60-second version for a teammate.</a:t>
            </a:r>
          </a:p>
        </p:txBody>
      </p:sp>
    </p:spTree>
    <p:extLst>
      <p:ext uri="{BB962C8B-B14F-4D97-AF65-F5344CB8AC3E}">
        <p14:creationId xmlns:p14="http://schemas.microsoft.com/office/powerpoint/2010/main" val="2543347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C5B90-D035-7CC5-2F1B-97069CE1D889}"/>
              </a:ext>
            </a:extLst>
          </p:cNvPr>
          <p:cNvSpPr>
            <a:spLocks noGrp="1"/>
          </p:cNvSpPr>
          <p:nvPr>
            <p:ph type="title"/>
          </p:nvPr>
        </p:nvSpPr>
        <p:spPr/>
        <p:txBody>
          <a:bodyPr/>
          <a:lstStyle/>
          <a:p>
            <a:r>
              <a:rPr lang="en-US"/>
              <a:t>Most “AI agents” load too much, too often</a:t>
            </a:r>
            <a:endParaRPr lang="LID4096"/>
          </a:p>
        </p:txBody>
      </p:sp>
      <p:sp>
        <p:nvSpPr>
          <p:cNvPr id="3" name="Content Placeholder 2">
            <a:extLst>
              <a:ext uri="{FF2B5EF4-FFF2-40B4-BE49-F238E27FC236}">
                <a16:creationId xmlns:a16="http://schemas.microsoft.com/office/drawing/2014/main" id="{E30FA12D-29DD-47B6-C7E6-5597FAB116E2}"/>
              </a:ext>
            </a:extLst>
          </p:cNvPr>
          <p:cNvSpPr>
            <a:spLocks noGrp="1"/>
          </p:cNvSpPr>
          <p:nvPr>
            <p:ph idx="1"/>
          </p:nvPr>
        </p:nvSpPr>
        <p:spPr>
          <a:xfrm>
            <a:off x="838200" y="1879600"/>
            <a:ext cx="10515600" cy="2540000"/>
          </a:xfrm>
        </p:spPr>
        <p:txBody>
          <a:bodyPr>
            <a:normAutofit/>
          </a:bodyPr>
          <a:lstStyle/>
          <a:p>
            <a:pPr marL="457200" indent="-457200">
              <a:spcBef>
                <a:spcPts val="1600"/>
              </a:spcBef>
              <a:buClr>
                <a:srgbClr val="EF5350"/>
              </a:buClr>
              <a:buFont typeface="Arial"/>
              <a:buChar char="■"/>
            </a:pPr>
            <a:r>
              <a:rPr lang="en-US" sz="2200" dirty="0">
                <a:solidFill>
                  <a:srgbClr val="D6DAE0"/>
                </a:solidFill>
              </a:rPr>
              <a:t>A plugin or skill auto-loads its entire SKILL.md — 10–25 KB — every time it activates</a:t>
            </a:r>
          </a:p>
          <a:p>
            <a:pPr marL="457200" indent="-457200">
              <a:spcBef>
                <a:spcPts val="1600"/>
              </a:spcBef>
              <a:buClr>
                <a:srgbClr val="EF5350"/>
              </a:buClr>
              <a:buFont typeface="Arial"/>
              <a:buChar char="■"/>
            </a:pPr>
            <a:r>
              <a:rPr lang="en-US" sz="2200" dirty="0">
                <a:solidFill>
                  <a:srgbClr val="D6DAE0"/>
                </a:solidFill>
              </a:rPr>
              <a:t>Most of that knowledge is irrelevant to the one task actually being run</a:t>
            </a:r>
          </a:p>
          <a:p>
            <a:pPr marL="457200" indent="-457200">
              <a:spcBef>
                <a:spcPts val="1600"/>
              </a:spcBef>
              <a:buClr>
                <a:srgbClr val="EF5350"/>
              </a:buClr>
              <a:buFont typeface="Arial"/>
              <a:buChar char="■"/>
            </a:pPr>
            <a:r>
              <a:rPr lang="en-US" sz="2200" dirty="0">
                <a:solidFill>
                  <a:srgbClr val="D6DAE0"/>
                </a:solidFill>
              </a:rPr>
              <a:t>Across five mixed-domain tasks that’s ~100 KB of procedure sitting in context, unread</a:t>
            </a:r>
          </a:p>
          <a:p>
            <a:pPr marL="457200" indent="-457200">
              <a:spcBef>
                <a:spcPts val="1600"/>
              </a:spcBef>
              <a:buClr>
                <a:srgbClr val="EF5350"/>
              </a:buClr>
              <a:buFont typeface="Arial"/>
              <a:buChar char="■"/>
            </a:pPr>
            <a:r>
              <a:rPr lang="en-US" sz="2200" dirty="0">
                <a:solidFill>
                  <a:srgbClr val="D6DAE0"/>
                </a:solidFill>
              </a:rPr>
              <a:t>The fix isn’t a smaller skill file. It’s a structure Claude navigates on demand</a:t>
            </a:r>
          </a:p>
        </p:txBody>
      </p:sp>
      <p:sp>
        <p:nvSpPr>
          <p:cNvPr id="120" name="Stat0"/>
          <p:cNvSpPr/>
          <p:nvPr/>
        </p:nvSpPr>
        <p:spPr>
          <a:xfrm>
            <a:off x="838200" y="4597400"/>
            <a:ext cx="3352800" cy="1498600"/>
          </a:xfrm>
          <a:prstGeom prst="roundRect">
            <a:avLst>
              <a:gd name="adj" fmla="val 8000"/>
            </a:avLst>
          </a:prstGeom>
          <a:solidFill>
            <a:srgbClr val="1C2027"/>
          </a:solidFill>
          <a:ln>
            <a:noFill/>
          </a:ln>
        </p:spPr>
        <p:txBody>
          <a:bodyPr lIns="190500" tIns="139700" rIns="152400" bIns="139700" anchor="ctr">
            <a:noAutofit/>
          </a:bodyPr>
          <a:lstStyle/>
          <a:p>
            <a:pPr algn="l">
              <a:buNone/>
            </a:pPr>
            <a:r>
              <a:rPr lang="en-US" sz="2800" b="1" dirty="0">
                <a:solidFill>
                  <a:srgbClr val="EF5350"/>
                </a:solidFill>
              </a:rPr>
              <a:t>10–25 KB</a:t>
            </a:r>
          </a:p>
          <a:p>
            <a:pPr algn="l">
              <a:spcBef>
                <a:spcPts val="400"/>
              </a:spcBef>
              <a:buNone/>
            </a:pPr>
            <a:r>
              <a:rPr lang="en-US" sz="1500" dirty="0">
                <a:solidFill>
                  <a:srgbClr val="C3C9D1"/>
                </a:solidFill>
              </a:rPr>
              <a:t>loaded on every activation</a:t>
            </a:r>
          </a:p>
        </p:txBody>
      </p:sp>
      <p:sp>
        <p:nvSpPr>
          <p:cNvPr id="121" name="Stat1"/>
          <p:cNvSpPr/>
          <p:nvPr/>
        </p:nvSpPr>
        <p:spPr>
          <a:xfrm>
            <a:off x="4419600" y="4597400"/>
            <a:ext cx="3352800" cy="1498600"/>
          </a:xfrm>
          <a:prstGeom prst="roundRect">
            <a:avLst>
              <a:gd name="adj" fmla="val 8000"/>
            </a:avLst>
          </a:prstGeom>
          <a:solidFill>
            <a:srgbClr val="1C2027"/>
          </a:solidFill>
          <a:ln>
            <a:noFill/>
          </a:ln>
        </p:spPr>
        <p:txBody>
          <a:bodyPr lIns="190500" tIns="139700" rIns="152400" bIns="139700" anchor="ctr">
            <a:noAutofit/>
          </a:bodyPr>
          <a:lstStyle/>
          <a:p>
            <a:pPr algn="l">
              <a:buNone/>
            </a:pPr>
            <a:r>
              <a:rPr lang="en-US" sz="2800" b="1" dirty="0">
                <a:solidFill>
                  <a:srgbClr val="EF5350"/>
                </a:solidFill>
              </a:rPr>
              <a:t>~100 KB</a:t>
            </a:r>
          </a:p>
          <a:p>
            <a:pPr algn="l">
              <a:spcBef>
                <a:spcPts val="400"/>
              </a:spcBef>
              <a:buNone/>
            </a:pPr>
            <a:r>
              <a:rPr lang="en-US" sz="1500" dirty="0">
                <a:solidFill>
                  <a:srgbClr val="C3C9D1"/>
                </a:solidFill>
              </a:rPr>
              <a:t>across one five-task session</a:t>
            </a:r>
          </a:p>
        </p:txBody>
      </p:sp>
      <p:sp>
        <p:nvSpPr>
          <p:cNvPr id="122" name="Stat2"/>
          <p:cNvSpPr/>
          <p:nvPr/>
        </p:nvSpPr>
        <p:spPr>
          <a:xfrm>
            <a:off x="8001000" y="4597400"/>
            <a:ext cx="3352800" cy="1498600"/>
          </a:xfrm>
          <a:prstGeom prst="roundRect">
            <a:avLst>
              <a:gd name="adj" fmla="val 8000"/>
            </a:avLst>
          </a:prstGeom>
          <a:solidFill>
            <a:srgbClr val="1C2027"/>
          </a:solidFill>
          <a:ln>
            <a:noFill/>
          </a:ln>
        </p:spPr>
        <p:txBody>
          <a:bodyPr lIns="190500" tIns="139700" rIns="152400" bIns="139700" anchor="ctr">
            <a:noAutofit/>
          </a:bodyPr>
          <a:lstStyle/>
          <a:p>
            <a:pPr algn="l">
              <a:buNone/>
            </a:pPr>
            <a:r>
              <a:rPr lang="en-US" sz="2800" b="1" dirty="0">
                <a:solidFill>
                  <a:srgbClr val="EF5350"/>
                </a:solidFill>
              </a:rPr>
              <a:t>most of it</a:t>
            </a:r>
          </a:p>
          <a:p>
            <a:pPr algn="l">
              <a:spcBef>
                <a:spcPts val="400"/>
              </a:spcBef>
              <a:buNone/>
            </a:pPr>
            <a:r>
              <a:rPr lang="en-US" sz="1500" dirty="0">
                <a:solidFill>
                  <a:srgbClr val="C3C9D1"/>
                </a:solidFill>
              </a:rPr>
              <a:t>never read for that task</a:t>
            </a:r>
          </a:p>
        </p:txBody>
      </p:sp>
    </p:spTree>
    <p:extLst>
      <p:ext uri="{BB962C8B-B14F-4D97-AF65-F5344CB8AC3E}">
        <p14:creationId xmlns:p14="http://schemas.microsoft.com/office/powerpoint/2010/main" val="8230703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0C9A2-03E2-BA56-4057-E3B2A06CD294}"/>
              </a:ext>
            </a:extLst>
          </p:cNvPr>
          <p:cNvSpPr>
            <a:spLocks noGrp="1"/>
          </p:cNvSpPr>
          <p:nvPr>
            <p:ph type="title"/>
          </p:nvPr>
        </p:nvSpPr>
        <p:spPr/>
        <p:txBody>
          <a:bodyPr/>
          <a:lstStyle/>
          <a:p>
            <a:r>
              <a:rPr lang="en-US"/>
              <a:t>Three layers, loaded only when needed</a:t>
            </a:r>
            <a:endParaRPr lang="LID4096"/>
          </a:p>
        </p:txBody>
      </p:sp>
      <p:sp>
        <p:nvSpPr>
          <p:cNvPr id="20" name="Card1"/>
          <p:cNvSpPr/>
          <p:nvPr/>
        </p:nvSpPr>
        <p:spPr>
          <a:xfrm>
            <a:off x="838200" y="2006600"/>
            <a:ext cx="3352800" cy="3200400"/>
          </a:xfrm>
          <a:prstGeom prst="roundRect">
            <a:avLst>
              <a:gd name="adj" fmla="val 6000"/>
            </a:avLst>
          </a:prstGeom>
          <a:solidFill>
            <a:srgbClr val="1C2027"/>
          </a:solidFill>
          <a:ln w="12700">
            <a:solidFill>
              <a:srgbClr val="4FC3F7"/>
            </a:solidFill>
          </a:ln>
        </p:spPr>
        <p:txBody>
          <a:bodyPr lIns="228600" tIns="228600" rIns="228600" bIns="182880" anchor="t">
            <a:normAutofit/>
          </a:bodyPr>
          <a:lstStyle/>
          <a:p>
            <a:pPr algn="l">
              <a:buNone/>
            </a:pPr>
            <a:r>
              <a:rPr lang="en-US" sz="2200" b="1" dirty="0">
                <a:solidFill>
                  <a:srgbClr val="4FC3F7"/>
                </a:solidFill>
              </a:rPr>
              <a:t>L1 — Map</a:t>
            </a:r>
          </a:p>
          <a:p>
            <a:pPr algn="l">
              <a:spcBef>
                <a:spcPts val="300"/>
              </a:spcBef>
              <a:buNone/>
            </a:pPr>
            <a:r>
              <a:rPr lang="en-US" sz="1400" dirty="0">
                <a:solidFill>
                  <a:srgbClr val="9AA4B0"/>
                </a:solidFill>
                <a:latin typeface="Consolas"/>
              </a:rPr>
              <a:t>CLAUDE.md</a:t>
            </a:r>
          </a:p>
          <a:p>
            <a:pPr algn="l">
              <a:spcBef>
                <a:spcPts val="900"/>
              </a:spcBef>
              <a:buNone/>
            </a:pPr>
            <a:r>
              <a:rPr lang="en-US" sz="1600" dirty="0">
                <a:solidFill>
                  <a:srgbClr val="D6DAE0"/>
                </a:solidFill>
              </a:rPr>
              <a:t>A router at the workspace root that matches user intent to the right room.</a:t>
            </a:r>
          </a:p>
          <a:p>
            <a:pPr algn="l">
              <a:spcBef>
                <a:spcPts val="1200"/>
              </a:spcBef>
              <a:buNone/>
            </a:pPr>
            <a:r>
              <a:rPr lang="en-US" sz="1400" b="1" dirty="0">
                <a:solidFill>
                  <a:srgbClr val="FFFFFF"/>
                </a:solidFill>
              </a:rPr>
              <a:t>Loads: </a:t>
            </a:r>
            <a:r>
              <a:rPr lang="en-US" sz="1400" dirty="0">
                <a:solidFill>
                  <a:srgbClr val="B0BEC5"/>
                </a:solidFill>
              </a:rPr>
              <a:t>Always (session start)</a:t>
            </a:r>
          </a:p>
          <a:p>
            <a:pPr algn="l">
              <a:spcBef>
                <a:spcPts val="400"/>
              </a:spcBef>
              <a:buNone/>
            </a:pPr>
            <a:r>
              <a:rPr lang="en-US" sz="1400" b="1" dirty="0">
                <a:solidFill>
                  <a:srgbClr val="FFFFFF"/>
                </a:solidFill>
              </a:rPr>
              <a:t>Size: </a:t>
            </a:r>
            <a:r>
              <a:rPr lang="en-US" sz="1400" dirty="0">
                <a:solidFill>
                  <a:srgbClr val="B0BEC5"/>
                </a:solidFill>
              </a:rPr>
              <a:t>3–15 KB</a:t>
            </a:r>
          </a:p>
        </p:txBody>
      </p:sp>
      <p:sp>
        <p:nvSpPr>
          <p:cNvPr id="21" name="Card2"/>
          <p:cNvSpPr/>
          <p:nvPr/>
        </p:nvSpPr>
        <p:spPr>
          <a:xfrm>
            <a:off x="4419600" y="2006600"/>
            <a:ext cx="3352800" cy="3200400"/>
          </a:xfrm>
          <a:prstGeom prst="roundRect">
            <a:avLst>
              <a:gd name="adj" fmla="val 6000"/>
            </a:avLst>
          </a:prstGeom>
          <a:solidFill>
            <a:srgbClr val="1C2027"/>
          </a:solidFill>
          <a:ln w="12700">
            <a:solidFill>
              <a:srgbClr val="FFB74D"/>
            </a:solidFill>
          </a:ln>
        </p:spPr>
        <p:txBody>
          <a:bodyPr lIns="228600" tIns="228600" rIns="228600" bIns="182880" anchor="t">
            <a:normAutofit/>
          </a:bodyPr>
          <a:lstStyle/>
          <a:p>
            <a:pPr algn="l">
              <a:buNone/>
            </a:pPr>
            <a:r>
              <a:rPr lang="en-US" sz="2200" b="1" dirty="0">
                <a:solidFill>
                  <a:srgbClr val="FFB74D"/>
                </a:solidFill>
              </a:rPr>
              <a:t>L2 — Rooms</a:t>
            </a:r>
          </a:p>
          <a:p>
            <a:pPr algn="l">
              <a:spcBef>
                <a:spcPts val="300"/>
              </a:spcBef>
              <a:buNone/>
            </a:pPr>
            <a:r>
              <a:rPr lang="en-US" sz="1400" dirty="0">
                <a:solidFill>
                  <a:srgbClr val="9AA4B0"/>
                </a:solidFill>
                <a:latin typeface="Consolas"/>
              </a:rPr>
              <a:t>01-brief/ · 02-build/ …</a:t>
            </a:r>
          </a:p>
          <a:p>
            <a:pPr algn="l">
              <a:spcBef>
                <a:spcPts val="900"/>
              </a:spcBef>
              <a:buNone/>
            </a:pPr>
            <a:r>
              <a:rPr lang="en-US" sz="1600" dirty="0">
                <a:solidFill>
                  <a:srgbClr val="D6DAE0"/>
                </a:solidFill>
              </a:rPr>
              <a:t>Numbered topical folders, each with a context.md describing scope and workflow.</a:t>
            </a:r>
          </a:p>
          <a:p>
            <a:pPr algn="l">
              <a:spcBef>
                <a:spcPts val="1200"/>
              </a:spcBef>
              <a:buNone/>
            </a:pPr>
            <a:r>
              <a:rPr lang="en-US" sz="1400" b="1" dirty="0">
                <a:solidFill>
                  <a:srgbClr val="FFFFFF"/>
                </a:solidFill>
              </a:rPr>
              <a:t>Loads: </a:t>
            </a:r>
            <a:r>
              <a:rPr lang="en-US" sz="1400" dirty="0">
                <a:solidFill>
                  <a:srgbClr val="B0BEC5"/>
                </a:solidFill>
              </a:rPr>
              <a:t>When the user enters that domain</a:t>
            </a:r>
          </a:p>
          <a:p>
            <a:pPr algn="l">
              <a:spcBef>
                <a:spcPts val="400"/>
              </a:spcBef>
              <a:buNone/>
            </a:pPr>
            <a:r>
              <a:rPr lang="en-US" sz="1400" b="1" dirty="0">
                <a:solidFill>
                  <a:srgbClr val="FFFFFF"/>
                </a:solidFill>
              </a:rPr>
              <a:t>Size: </a:t>
            </a:r>
            <a:r>
              <a:rPr lang="en-US" sz="1400" dirty="0">
                <a:solidFill>
                  <a:srgbClr val="B0BEC5"/>
                </a:solidFill>
              </a:rPr>
              <a:t>1–3 KB per room</a:t>
            </a:r>
          </a:p>
        </p:txBody>
      </p:sp>
      <p:sp>
        <p:nvSpPr>
          <p:cNvPr id="22" name="Card3"/>
          <p:cNvSpPr/>
          <p:nvPr/>
        </p:nvSpPr>
        <p:spPr>
          <a:xfrm>
            <a:off x="8001000" y="2006600"/>
            <a:ext cx="3352800" cy="3200400"/>
          </a:xfrm>
          <a:prstGeom prst="roundRect">
            <a:avLst>
              <a:gd name="adj" fmla="val 6000"/>
            </a:avLst>
          </a:prstGeom>
          <a:solidFill>
            <a:srgbClr val="1C2027"/>
          </a:solidFill>
          <a:ln w="12700">
            <a:solidFill>
              <a:srgbClr val="66BB6A"/>
            </a:solidFill>
          </a:ln>
        </p:spPr>
        <p:txBody>
          <a:bodyPr lIns="228600" tIns="228600" rIns="228600" bIns="182880" anchor="t">
            <a:normAutofit/>
          </a:bodyPr>
          <a:lstStyle/>
          <a:p>
            <a:pPr algn="l">
              <a:buNone/>
            </a:pPr>
            <a:r>
              <a:rPr lang="en-US" sz="2200" b="1" dirty="0">
                <a:solidFill>
                  <a:srgbClr val="66BB6A"/>
                </a:solidFill>
              </a:rPr>
              <a:t>L3 — Atoms</a:t>
            </a:r>
          </a:p>
          <a:p>
            <a:pPr algn="l">
              <a:spcBef>
                <a:spcPts val="300"/>
              </a:spcBef>
              <a:buNone/>
            </a:pPr>
            <a:r>
              <a:rPr lang="en-US" sz="1400" dirty="0">
                <a:solidFill>
                  <a:srgbClr val="9AA4B0"/>
                </a:solidFill>
                <a:latin typeface="Consolas"/>
              </a:rPr>
              <a:t>one-task.md</a:t>
            </a:r>
          </a:p>
          <a:p>
            <a:pPr algn="l">
              <a:spcBef>
                <a:spcPts val="900"/>
              </a:spcBef>
              <a:buNone/>
            </a:pPr>
            <a:r>
              <a:rPr lang="en-US" sz="1600" dirty="0">
                <a:solidFill>
                  <a:srgbClr val="D6DAE0"/>
                </a:solidFill>
              </a:rPr>
              <a:t>One markdown per task — ≤80 lines, ≤2 KB. The exact procedure for a single operation.</a:t>
            </a:r>
          </a:p>
          <a:p>
            <a:pPr algn="l">
              <a:spcBef>
                <a:spcPts val="1200"/>
              </a:spcBef>
              <a:buNone/>
            </a:pPr>
            <a:r>
              <a:rPr lang="en-US" sz="1400" b="1" dirty="0">
                <a:solidFill>
                  <a:srgbClr val="FFFFFF"/>
                </a:solidFill>
              </a:rPr>
              <a:t>Loads: </a:t>
            </a:r>
            <a:r>
              <a:rPr lang="en-US" sz="1400" dirty="0">
                <a:solidFill>
                  <a:srgbClr val="B0BEC5"/>
                </a:solidFill>
              </a:rPr>
              <a:t>Only when that task runs</a:t>
            </a:r>
          </a:p>
          <a:p>
            <a:pPr algn="l">
              <a:spcBef>
                <a:spcPts val="400"/>
              </a:spcBef>
              <a:buNone/>
            </a:pPr>
            <a:r>
              <a:rPr lang="en-US" sz="1400" b="1" dirty="0">
                <a:solidFill>
                  <a:srgbClr val="FFFFFF"/>
                </a:solidFill>
              </a:rPr>
              <a:t>Size: </a:t>
            </a:r>
            <a:r>
              <a:rPr lang="en-US" sz="1400" dirty="0">
                <a:solidFill>
                  <a:srgbClr val="B0BEC5"/>
                </a:solidFill>
              </a:rPr>
              <a:t>0.5–3 KB per file</a:t>
            </a:r>
          </a:p>
        </p:txBody>
      </p:sp>
      <p:sp>
        <p:nvSpPr>
          <p:cNvPr id="30" name="Takeaway"/>
          <p:cNvSpPr/>
          <p:nvPr/>
        </p:nvSpPr>
        <p:spPr>
          <a:xfrm>
            <a:off x="838200" y="5486400"/>
            <a:ext cx="10515600" cy="736600"/>
          </a:xfrm>
          <a:prstGeom prst="roundRect">
            <a:avLst>
              <a:gd name="adj" fmla="val 14000"/>
            </a:avLst>
          </a:prstGeom>
          <a:solidFill>
            <a:srgbClr val="20242B"/>
          </a:solidFill>
          <a:ln>
            <a:noFill/>
          </a:ln>
        </p:spPr>
        <p:txBody>
          <a:bodyPr lIns="228600" rIns="228600" anchor="ctr"/>
          <a:lstStyle/>
          <a:p>
            <a:pPr algn="l">
              <a:buNone/>
            </a:pPr>
            <a:r>
              <a:rPr lang="en-US" sz="1600" b="1" dirty="0">
                <a:solidFill>
                  <a:srgbClr val="4FC3F7"/>
                </a:solidFill>
              </a:rPr>
              <a:t>Surgical loading: </a:t>
            </a:r>
            <a:r>
              <a:rPr lang="en-US" sz="1600" dirty="0">
                <a:solidFill>
                  <a:srgbClr val="D6DAE0"/>
                </a:solidFill>
              </a:rPr>
              <a:t>a typical task pulls 3–5 atoms — about 10 KB — instead of a 15 KB skill file it barely uses.</a:t>
            </a:r>
          </a:p>
        </p:txBody>
      </p:sp>
    </p:spTree>
    <p:extLst>
      <p:ext uri="{BB962C8B-B14F-4D97-AF65-F5344CB8AC3E}">
        <p14:creationId xmlns:p14="http://schemas.microsoft.com/office/powerpoint/2010/main" val="4215545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183D0-83AE-771D-990A-223B0DA67A0A}"/>
              </a:ext>
            </a:extLst>
          </p:cNvPr>
          <p:cNvSpPr>
            <a:spLocks noGrp="1"/>
          </p:cNvSpPr>
          <p:nvPr>
            <p:ph type="title"/>
          </p:nvPr>
        </p:nvSpPr>
        <p:spPr/>
        <p:txBody>
          <a:bodyPr/>
          <a:lstStyle/>
          <a:p>
            <a:r>
              <a:rPr lang="en-US" dirty="0"/>
              <a:t>Five principles hold it together</a:t>
            </a:r>
          </a:p>
        </p:txBody>
      </p:sp>
      <p:sp>
        <p:nvSpPr>
          <p:cNvPr id="3" name="Content Placeholder 2">
            <a:extLst>
              <a:ext uri="{FF2B5EF4-FFF2-40B4-BE49-F238E27FC236}">
                <a16:creationId xmlns:a16="http://schemas.microsoft.com/office/drawing/2014/main" id="{6B0BBC9A-D9C3-2B87-A080-79455C5A002B}"/>
              </a:ext>
            </a:extLst>
          </p:cNvPr>
          <p:cNvSpPr>
            <a:spLocks noGrp="1"/>
          </p:cNvSpPr>
          <p:nvPr>
            <p:ph idx="1"/>
          </p:nvPr>
        </p:nvSpPr>
        <p:spPr/>
        <p:txBody>
          <a:bodyPr/>
          <a:lstStyle/>
          <a:p>
            <a:pPr marL="457200" indent="-457200">
              <a:lnSpc>
                <a:spcPct val="100000"/>
              </a:lnSpc>
              <a:spcBef>
                <a:spcPts val="900"/>
              </a:spcBef>
              <a:buFont typeface="Arial"/>
              <a:buChar char="■"/>
            </a:pPr>
            <a:r>
              <a:rPr lang="en-US" sz="1900" b="1" dirty="0">
                <a:solidFill>
                  <a:srgbClr val="FFFFFF"/>
                </a:solidFill>
              </a:rPr>
              <a:t>The folder IS the app. </a:t>
            </a:r>
            <a:r>
              <a:rPr lang="en-US" sz="1900" dirty="0">
                <a:solidFill>
                  <a:srgbClr val="C3C9D1"/>
                </a:solidFill>
              </a:rPr>
              <a:t>No code, no agents. Markdown plus structure carries the knowledge.</a:t>
            </a:r>
          </a:p>
          <a:p>
            <a:pPr marL="457200" indent="-457200">
              <a:lnSpc>
                <a:spcPct val="100000"/>
              </a:lnSpc>
              <a:spcBef>
                <a:spcPts val="900"/>
              </a:spcBef>
              <a:buFont typeface="Arial"/>
              <a:buChar char="■"/>
            </a:pPr>
            <a:r>
              <a:rPr lang="en-US" sz="1900" b="1" dirty="0">
                <a:solidFill>
                  <a:srgbClr val="FFFFFF"/>
                </a:solidFill>
              </a:rPr>
              <a:t>One concern per file. </a:t>
            </a:r>
            <a:r>
              <a:rPr lang="en-US" sz="1900" dirty="0">
                <a:solidFill>
                  <a:srgbClr val="C3C9D1"/>
                </a:solidFill>
              </a:rPr>
              <a:t>A file explains how to rename a page, or how to add a KPI — never both.</a:t>
            </a:r>
          </a:p>
          <a:p>
            <a:pPr marL="457200" indent="-457200">
              <a:lnSpc>
                <a:spcPct val="100000"/>
              </a:lnSpc>
              <a:spcBef>
                <a:spcPts val="900"/>
              </a:spcBef>
              <a:buFont typeface="Arial"/>
              <a:buChar char="■"/>
            </a:pPr>
            <a:r>
              <a:rPr lang="en-US" sz="1900" b="1" dirty="0">
                <a:solidFill>
                  <a:srgbClr val="FFFFFF"/>
                </a:solidFill>
              </a:rPr>
              <a:t>Surgical loading. </a:t>
            </a:r>
            <a:r>
              <a:rPr lang="en-US" sz="1900" dirty="0">
                <a:solidFill>
                  <a:srgbClr val="C3C9D1"/>
                </a:solidFill>
              </a:rPr>
              <a:t>Three atoms (~6 KB) is cheaper than one SKILL.md (~15 KB) on every task.</a:t>
            </a:r>
          </a:p>
          <a:p>
            <a:pPr marL="457200" indent="-457200">
              <a:lnSpc>
                <a:spcPct val="100000"/>
              </a:lnSpc>
              <a:spcBef>
                <a:spcPts val="900"/>
              </a:spcBef>
              <a:buFont typeface="Arial"/>
              <a:buChar char="■"/>
            </a:pPr>
            <a:r>
              <a:rPr lang="en-US" sz="1900" b="1" dirty="0">
                <a:solidFill>
                  <a:srgbClr val="FFFFFF"/>
                </a:solidFill>
              </a:rPr>
              <a:t>Workflow over agent. </a:t>
            </a:r>
            <a:r>
              <a:rPr lang="en-US" sz="1900" dirty="0">
                <a:solidFill>
                  <a:srgbClr val="C3C9D1"/>
                </a:solidFill>
              </a:rPr>
              <a:t>Numbered rooms imply pipeline order: brief → build → bind → review.</a:t>
            </a:r>
          </a:p>
          <a:p>
            <a:pPr marL="457200" indent="-457200">
              <a:lnSpc>
                <a:spcPct val="100000"/>
              </a:lnSpc>
              <a:spcBef>
                <a:spcPts val="900"/>
              </a:spcBef>
              <a:buFont typeface="Arial"/>
              <a:buChar char="■"/>
            </a:pPr>
            <a:r>
              <a:rPr lang="en-US" sz="1900" b="1" dirty="0">
                <a:solidFill>
                  <a:srgbClr val="FFFFFF"/>
                </a:solidFill>
              </a:rPr>
              <a:t>File names are the index. </a:t>
            </a:r>
            <a:r>
              <a:rPr lang="en-US" sz="1900" dirty="0">
                <a:solidFill>
                  <a:srgbClr val="C3C9D1"/>
                </a:solidFill>
              </a:rPr>
              <a:t>No database, no vector store. The directory tree IS the lookup.</a:t>
            </a:r>
          </a:p>
        </p:txBody>
      </p:sp>
    </p:spTree>
    <p:extLst>
      <p:ext uri="{BB962C8B-B14F-4D97-AF65-F5344CB8AC3E}">
        <p14:creationId xmlns:p14="http://schemas.microsoft.com/office/powerpoint/2010/main" val="1074882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89F41-A85B-762E-3E62-5D06CAB2D76F}"/>
              </a:ext>
            </a:extLst>
          </p:cNvPr>
          <p:cNvSpPr>
            <a:spLocks noGrp="1"/>
          </p:cNvSpPr>
          <p:nvPr>
            <p:ph type="title"/>
          </p:nvPr>
        </p:nvSpPr>
        <p:spPr/>
        <p:txBody>
          <a:bodyPr/>
          <a:lstStyle/>
          <a:p>
            <a:r>
              <a:rPr lang="en-US" dirty="0"/>
              <a:t>Same five tasks, half the context</a:t>
            </a:r>
          </a:p>
        </p:txBody>
      </p:sp>
      <p:graphicFrame>
        <p:nvGraphicFramePr>
          <p:cNvPr id="40" name="CostChart"/>
          <p:cNvGraphicFramePr/>
          <p:nvPr/>
        </p:nvGraphicFramePr>
        <p:xfrm>
          <a:off x="838200" y="1905000"/>
          <a:ext cx="7112000" cy="4318000"/>
        </p:xfrm>
        <a:graphic>
          <a:graphicData uri="http://schemas.openxmlformats.org/drawingml/2006/chart">
            <c:chart xmlns:c="http://schemas.openxmlformats.org/drawingml/2006/chart" xmlns:r="http://schemas.openxmlformats.org/officeDocument/2006/relationships" r:id="rId3"/>
          </a:graphicData>
        </a:graphic>
      </p:graphicFrame>
      <p:sp>
        <p:nvSpPr>
          <p:cNvPr id="50" name="Stat0"/>
          <p:cNvSpPr/>
          <p:nvPr/>
        </p:nvSpPr>
        <p:spPr>
          <a:xfrm>
            <a:off x="8204200" y="1905000"/>
            <a:ext cx="3149600" cy="1270000"/>
          </a:xfrm>
          <a:prstGeom prst="roundRect">
            <a:avLst>
              <a:gd name="adj" fmla="val 8000"/>
            </a:avLst>
          </a:prstGeom>
          <a:solidFill>
            <a:srgbClr val="1C2027"/>
          </a:solidFill>
          <a:ln>
            <a:noFill/>
          </a:ln>
        </p:spPr>
        <p:txBody>
          <a:bodyPr lIns="152400" tIns="127000" rIns="152400" bIns="127000" anchor="ctr"/>
          <a:lstStyle/>
          <a:p>
            <a:pPr algn="l">
              <a:buNone/>
            </a:pPr>
            <a:r>
              <a:rPr lang="en-US" sz="3200" b="1" dirty="0">
                <a:solidFill>
                  <a:srgbClr val="EF5350"/>
                </a:solidFill>
              </a:rPr>
              <a:t>82 KB</a:t>
            </a:r>
          </a:p>
          <a:p>
            <a:pPr algn="l">
              <a:spcBef>
                <a:spcPts val="200"/>
              </a:spcBef>
              <a:buNone/>
            </a:pPr>
            <a:r>
              <a:rPr lang="en-US" sz="1400" dirty="0">
                <a:solidFill>
                  <a:srgbClr val="B0BEC5"/>
                </a:solidFill>
              </a:rPr>
              <a:t>Plugin / skill model — five tasks</a:t>
            </a:r>
          </a:p>
        </p:txBody>
      </p:sp>
      <p:sp>
        <p:nvSpPr>
          <p:cNvPr id="51" name="Stat1"/>
          <p:cNvSpPr/>
          <p:nvPr/>
        </p:nvSpPr>
        <p:spPr>
          <a:xfrm>
            <a:off x="8204200" y="3378200"/>
            <a:ext cx="3149600" cy="1270000"/>
          </a:xfrm>
          <a:prstGeom prst="roundRect">
            <a:avLst>
              <a:gd name="adj" fmla="val 8000"/>
            </a:avLst>
          </a:prstGeom>
          <a:solidFill>
            <a:srgbClr val="1C2027"/>
          </a:solidFill>
          <a:ln>
            <a:noFill/>
          </a:ln>
        </p:spPr>
        <p:txBody>
          <a:bodyPr lIns="152400" tIns="127000" rIns="152400" bIns="127000" anchor="ctr"/>
          <a:lstStyle/>
          <a:p>
            <a:pPr algn="l">
              <a:buNone/>
            </a:pPr>
            <a:r>
              <a:rPr lang="en-US" sz="3200" b="1" dirty="0">
                <a:solidFill>
                  <a:srgbClr val="4FC3F7"/>
                </a:solidFill>
              </a:rPr>
              <a:t>34 KB</a:t>
            </a:r>
          </a:p>
          <a:p>
            <a:pPr algn="l">
              <a:spcBef>
                <a:spcPts val="200"/>
              </a:spcBef>
              <a:buNone/>
            </a:pPr>
            <a:r>
              <a:rPr lang="en-US" sz="1400" dirty="0">
                <a:solidFill>
                  <a:srgbClr val="B0BEC5"/>
                </a:solidFill>
              </a:rPr>
              <a:t>Atomic model — 21 KB atoms + 13 KB router</a:t>
            </a:r>
          </a:p>
        </p:txBody>
      </p:sp>
      <p:sp>
        <p:nvSpPr>
          <p:cNvPr id="52" name="Stat2"/>
          <p:cNvSpPr/>
          <p:nvPr/>
        </p:nvSpPr>
        <p:spPr>
          <a:xfrm>
            <a:off x="8204200" y="4851400"/>
            <a:ext cx="3149600" cy="1270000"/>
          </a:xfrm>
          <a:prstGeom prst="roundRect">
            <a:avLst>
              <a:gd name="adj" fmla="val 8000"/>
            </a:avLst>
          </a:prstGeom>
          <a:solidFill>
            <a:srgbClr val="1C2027"/>
          </a:solidFill>
          <a:ln>
            <a:noFill/>
          </a:ln>
        </p:spPr>
        <p:txBody>
          <a:bodyPr lIns="152400" tIns="127000" rIns="152400" bIns="127000" anchor="ctr"/>
          <a:lstStyle/>
          <a:p>
            <a:pPr algn="l">
              <a:buNone/>
            </a:pPr>
            <a:r>
              <a:rPr lang="en-US" sz="3200" b="1" dirty="0">
                <a:solidFill>
                  <a:srgbClr val="66BB6A"/>
                </a:solidFill>
              </a:rPr>
              <a:t>~50%</a:t>
            </a:r>
          </a:p>
          <a:p>
            <a:pPr algn="l">
              <a:spcBef>
                <a:spcPts val="200"/>
              </a:spcBef>
              <a:buNone/>
            </a:pPr>
            <a:r>
              <a:rPr lang="en-US" sz="1400" dirty="0">
                <a:solidFill>
                  <a:srgbClr val="B0BEC5"/>
                </a:solidFill>
              </a:rPr>
              <a:t>Cheaper per session, and more headroom for the work itself</a:t>
            </a:r>
          </a:p>
        </p:txBody>
      </p:sp>
    </p:spTree>
    <p:extLst>
      <p:ext uri="{BB962C8B-B14F-4D97-AF65-F5344CB8AC3E}">
        <p14:creationId xmlns:p14="http://schemas.microsoft.com/office/powerpoint/2010/main" val="1518545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E7C32-F33C-DCE8-1574-8CCFA4C881DC}"/>
              </a:ext>
            </a:extLst>
          </p:cNvPr>
          <p:cNvSpPr>
            <a:spLocks noGrp="1"/>
          </p:cNvSpPr>
          <p:nvPr>
            <p:ph type="title"/>
          </p:nvPr>
        </p:nvSpPr>
        <p:spPr/>
        <p:txBody>
          <a:bodyPr/>
          <a:lstStyle/>
          <a:p>
            <a:r>
              <a:rPr lang="en-US" dirty="0"/>
              <a:t>The architecture as applied here</a:t>
            </a:r>
          </a:p>
        </p:txBody>
      </p:sp>
      <p:sp>
        <p:nvSpPr>
          <p:cNvPr id="60" name="Tree"/>
          <p:cNvSpPr/>
          <p:nvPr/>
        </p:nvSpPr>
        <p:spPr>
          <a:xfrm>
            <a:off x="838200" y="1905000"/>
            <a:ext cx="7620000" cy="4318000"/>
          </a:xfrm>
          <a:prstGeom prst="roundRect">
            <a:avLst>
              <a:gd name="adj" fmla="val 4000"/>
            </a:avLst>
          </a:prstGeom>
          <a:solidFill>
            <a:srgbClr val="1A1D23"/>
          </a:solidFill>
          <a:ln w="12700">
            <a:solidFill>
              <a:srgbClr val="2E343D"/>
            </a:solidFill>
          </a:ln>
        </p:spPr>
        <p:txBody>
          <a:bodyPr lIns="228600" tIns="190500" rIns="152400" bIns="152400" anchor="t"/>
          <a:lstStyle/>
          <a:p>
            <a:pPr algn="l">
              <a:lnSpc>
                <a:spcPts val="1900"/>
              </a:lnSpc>
              <a:buNone/>
            </a:pPr>
            <a:r>
              <a:rPr lang="en-US" sz="1400" dirty="0">
                <a:solidFill>
                  <a:srgbClr val="FFFFFF"/>
                </a:solidFill>
                <a:latin typeface="Consolas"/>
              </a:rPr>
              <a:t>Workspace-Blueprint/</a:t>
            </a:r>
          </a:p>
          <a:p>
            <a:pPr algn="l">
              <a:lnSpc>
                <a:spcPts val="1900"/>
              </a:lnSpc>
              <a:buNone/>
            </a:pPr>
            <a:r>
              <a:rPr lang="en-US" sz="1400" dirty="0">
                <a:solidFill>
                  <a:srgbClr val="4FC3F7"/>
                </a:solidFill>
                <a:latin typeface="Consolas"/>
              </a:rPr>
              <a:t>├─ CLAUDE.md</a:t>
            </a:r>
            <a:r>
              <a:rPr lang="en-US" sz="1400" i="1" dirty="0">
                <a:solidFill>
                  <a:srgbClr val="6B7581"/>
                </a:solidFill>
              </a:rPr>
              <a:t>   ← L1 router — which blueprint?</a:t>
            </a:r>
          </a:p>
          <a:p>
            <a:pPr algn="l">
              <a:lnSpc>
                <a:spcPts val="1900"/>
              </a:lnSpc>
              <a:buNone/>
            </a:pPr>
            <a:r>
              <a:rPr lang="en-US" sz="1400" dirty="0">
                <a:solidFill>
                  <a:srgbClr val="9AA4B0"/>
                </a:solidFill>
                <a:latin typeface="Consolas"/>
              </a:rPr>
              <a:t>├─ README.md  ·  HOW-IT-WORKS.md</a:t>
            </a:r>
          </a:p>
          <a:p>
            <a:pPr algn="l">
              <a:lnSpc>
                <a:spcPts val="1900"/>
              </a:lnSpc>
              <a:buNone/>
            </a:pPr>
            <a:r>
              <a:rPr lang="en-US" sz="1400" dirty="0">
                <a:solidFill>
                  <a:srgbClr val="9AA4B0"/>
                </a:solidFill>
                <a:latin typeface="Consolas"/>
              </a:rPr>
              <a:t>├─ .claude/settings.json</a:t>
            </a:r>
            <a:r>
              <a:rPr lang="en-US" sz="1400" i="1" dirty="0">
                <a:solidFill>
                  <a:srgbClr val="6B7581"/>
                </a:solidFill>
              </a:rPr>
              <a:t>   ← hook registrations</a:t>
            </a:r>
          </a:p>
          <a:p>
            <a:pPr algn="l">
              <a:lnSpc>
                <a:spcPts val="1900"/>
              </a:lnSpc>
              <a:buNone/>
            </a:pPr>
            <a:r>
              <a:rPr lang="en-US" sz="1400" dirty="0">
                <a:solidFill>
                  <a:srgbClr val="FFB74D"/>
                </a:solidFill>
                <a:latin typeface="Consolas"/>
              </a:rPr>
              <a:t>├─ power-bi/</a:t>
            </a:r>
            <a:r>
              <a:rPr lang="en-US" sz="1400" i="1" dirty="0">
                <a:solidFill>
                  <a:srgbClr val="6B7581"/>
                </a:solidFill>
              </a:rPr>
              <a:t>   ← blueprint 1 — PBIP</a:t>
            </a:r>
          </a:p>
          <a:p>
            <a:pPr algn="l">
              <a:lnSpc>
                <a:spcPts val="1900"/>
              </a:lnSpc>
              <a:buNone/>
            </a:pPr>
            <a:r>
              <a:rPr lang="en-US" sz="1400" dirty="0">
                <a:solidFill>
                  <a:srgbClr val="9AA4B0"/>
                </a:solidFill>
                <a:latin typeface="Consolas"/>
              </a:rPr>
              <a:t>│   ├─ CLAUDE.md  ·  hooks.yaml</a:t>
            </a:r>
          </a:p>
          <a:p>
            <a:pPr algn="l">
              <a:lnSpc>
                <a:spcPts val="1900"/>
              </a:lnSpc>
              <a:buNone/>
            </a:pPr>
            <a:r>
              <a:rPr lang="en-US" sz="1400" dirty="0">
                <a:solidFill>
                  <a:srgbClr val="D6DAE0"/>
                </a:solidFill>
                <a:latin typeface="Consolas"/>
              </a:rPr>
              <a:t>│   ├─ 01-brief/  02-build/  03-bind/  04-review/</a:t>
            </a:r>
            <a:r>
              <a:rPr lang="en-US" sz="1400" i="1" dirty="0">
                <a:solidFill>
                  <a:srgbClr val="6B7581"/>
                </a:solidFill>
              </a:rPr>
              <a:t>   ← L2 rooms</a:t>
            </a:r>
          </a:p>
          <a:p>
            <a:pPr algn="l">
              <a:lnSpc>
                <a:spcPts val="1900"/>
              </a:lnSpc>
              <a:buNone/>
            </a:pPr>
            <a:r>
              <a:rPr lang="en-US" sz="1400" dirty="0">
                <a:solidFill>
                  <a:srgbClr val="D6DAE0"/>
                </a:solidFill>
                <a:latin typeface="Consolas"/>
              </a:rPr>
              <a:t>│   └─ projects/  outputs/  _examples/</a:t>
            </a:r>
            <a:r>
              <a:rPr lang="en-US" sz="1400" i="1" dirty="0">
                <a:solidFill>
                  <a:srgbClr val="6B7581"/>
                </a:solidFill>
              </a:rPr>
              <a:t>   ← raw + artifacts</a:t>
            </a:r>
          </a:p>
          <a:p>
            <a:pPr algn="l">
              <a:lnSpc>
                <a:spcPts val="1900"/>
              </a:lnSpc>
              <a:buNone/>
            </a:pPr>
            <a:r>
              <a:rPr lang="en-US" sz="1400" dirty="0">
                <a:solidFill>
                  <a:srgbClr val="66BB6A"/>
                </a:solidFill>
                <a:latin typeface="Consolas"/>
              </a:rPr>
              <a:t>└─ synthetic-data/</a:t>
            </a:r>
            <a:r>
              <a:rPr lang="en-US" sz="1400" i="1" dirty="0">
                <a:solidFill>
                  <a:srgbClr val="6B7581"/>
                </a:solidFill>
              </a:rPr>
              <a:t>   ← blueprint 2 — Python-first</a:t>
            </a:r>
          </a:p>
          <a:p>
            <a:pPr algn="l">
              <a:lnSpc>
                <a:spcPts val="1900"/>
              </a:lnSpc>
              <a:buNone/>
            </a:pPr>
            <a:r>
              <a:rPr lang="en-US" sz="1400" dirty="0">
                <a:solidFill>
                  <a:srgbClr val="9AA4B0"/>
                </a:solidFill>
                <a:latin typeface="Consolas"/>
              </a:rPr>
              <a:t>    ├─ CLAUDE.md</a:t>
            </a:r>
          </a:p>
          <a:p>
            <a:pPr algn="l">
              <a:lnSpc>
                <a:spcPts val="1900"/>
              </a:lnSpc>
              <a:buNone/>
            </a:pPr>
            <a:r>
              <a:rPr lang="en-US" sz="1400" dirty="0">
                <a:solidFill>
                  <a:srgbClr val="D6DAE0"/>
                </a:solidFill>
                <a:latin typeface="Consolas"/>
              </a:rPr>
              <a:t>    ├─ 01-brief/ 02-schema/ 03-generate/ 04-output/ 05-review/</a:t>
            </a:r>
            <a:r>
              <a:rPr lang="en-US" sz="1400" i="1" dirty="0">
                <a:solidFill>
                  <a:srgbClr val="6B7581"/>
                </a:solidFill>
              </a:rPr>
              <a:t>   ← L2 rooms</a:t>
            </a:r>
          </a:p>
          <a:p>
            <a:pPr algn="l">
              <a:lnSpc>
                <a:spcPts val="1900"/>
              </a:lnSpc>
              <a:buNone/>
            </a:pPr>
            <a:r>
              <a:rPr lang="en-US" sz="1400" dirty="0">
                <a:solidFill>
                  <a:srgbClr val="D6DAE0"/>
                </a:solidFill>
                <a:latin typeface="Consolas"/>
              </a:rPr>
              <a:t>    └─ projects/  outputs/</a:t>
            </a:r>
          </a:p>
        </p:txBody>
      </p:sp>
      <p:sp>
        <p:nvSpPr>
          <p:cNvPr id="70" name="Note0"/>
          <p:cNvSpPr/>
          <p:nvPr/>
        </p:nvSpPr>
        <p:spPr>
          <a:xfrm>
            <a:off x="8712200" y="1905000"/>
            <a:ext cx="2641600" cy="1270000"/>
          </a:xfrm>
          <a:prstGeom prst="roundRect">
            <a:avLst>
              <a:gd name="adj" fmla="val 8000"/>
            </a:avLst>
          </a:prstGeom>
          <a:solidFill>
            <a:srgbClr val="1C2027"/>
          </a:solidFill>
          <a:ln>
            <a:noFill/>
          </a:ln>
        </p:spPr>
        <p:txBody>
          <a:bodyPr lIns="152400" tIns="114300" rIns="114300" bIns="114300" anchor="ctr"/>
          <a:lstStyle/>
          <a:p>
            <a:pPr algn="l">
              <a:buNone/>
            </a:pPr>
            <a:r>
              <a:rPr lang="en-US" sz="2800" b="1" dirty="0">
                <a:solidFill>
                  <a:srgbClr val="4FC3F7"/>
                </a:solidFill>
              </a:rPr>
              <a:t>~506</a:t>
            </a:r>
          </a:p>
          <a:p>
            <a:pPr algn="l">
              <a:buNone/>
            </a:pPr>
            <a:r>
              <a:rPr lang="en-US" sz="1400" dirty="0">
                <a:solidFill>
                  <a:srgbClr val="B0BEC5"/>
                </a:solidFill>
              </a:rPr>
              <a:t>atomic .md files across two blueprints today</a:t>
            </a:r>
          </a:p>
        </p:txBody>
      </p:sp>
      <p:sp>
        <p:nvSpPr>
          <p:cNvPr id="71" name="Note1"/>
          <p:cNvSpPr/>
          <p:nvPr/>
        </p:nvSpPr>
        <p:spPr>
          <a:xfrm>
            <a:off x="8712200" y="3378200"/>
            <a:ext cx="2641600" cy="1270000"/>
          </a:xfrm>
          <a:prstGeom prst="roundRect">
            <a:avLst>
              <a:gd name="adj" fmla="val 8000"/>
            </a:avLst>
          </a:prstGeom>
          <a:solidFill>
            <a:srgbClr val="1C2027"/>
          </a:solidFill>
          <a:ln>
            <a:noFill/>
          </a:ln>
        </p:spPr>
        <p:txBody>
          <a:bodyPr lIns="152400" tIns="114300" rIns="114300" bIns="114300" anchor="ctr"/>
          <a:lstStyle/>
          <a:p>
            <a:pPr algn="l">
              <a:buNone/>
            </a:pPr>
            <a:r>
              <a:rPr lang="en-US" sz="2800" b="1" dirty="0">
                <a:solidFill>
                  <a:srgbClr val="FFB74D"/>
                </a:solidFill>
              </a:rPr>
              <a:t>~493</a:t>
            </a:r>
          </a:p>
          <a:p>
            <a:pPr algn="l">
              <a:buNone/>
            </a:pPr>
            <a:r>
              <a:rPr lang="en-US" sz="1400" dirty="0">
                <a:solidFill>
                  <a:srgbClr val="B0BEC5"/>
                </a:solidFill>
              </a:rPr>
              <a:t>in power-bi — the mature blueprint</a:t>
            </a:r>
          </a:p>
        </p:txBody>
      </p:sp>
      <p:sp>
        <p:nvSpPr>
          <p:cNvPr id="72" name="Note2"/>
          <p:cNvSpPr/>
          <p:nvPr/>
        </p:nvSpPr>
        <p:spPr>
          <a:xfrm>
            <a:off x="8712200" y="4851400"/>
            <a:ext cx="2641600" cy="1270000"/>
          </a:xfrm>
          <a:prstGeom prst="roundRect">
            <a:avLst>
              <a:gd name="adj" fmla="val 8000"/>
            </a:avLst>
          </a:prstGeom>
          <a:solidFill>
            <a:srgbClr val="1C2027"/>
          </a:solidFill>
          <a:ln>
            <a:noFill/>
          </a:ln>
        </p:spPr>
        <p:txBody>
          <a:bodyPr lIns="152400" tIns="114300" rIns="114300" bIns="114300" anchor="ctr"/>
          <a:lstStyle/>
          <a:p>
            <a:pPr algn="l">
              <a:buNone/>
            </a:pPr>
            <a:r>
              <a:rPr lang="en-US" sz="2800" b="1" dirty="0">
                <a:solidFill>
                  <a:srgbClr val="66BB6A"/>
                </a:solidFill>
              </a:rPr>
              <a:t>13</a:t>
            </a:r>
          </a:p>
          <a:p>
            <a:pPr algn="l">
              <a:buNone/>
            </a:pPr>
            <a:r>
              <a:rPr lang="en-US" sz="1400" dirty="0">
                <a:solidFill>
                  <a:srgbClr val="B0BEC5"/>
                </a:solidFill>
              </a:rPr>
              <a:t>in synthetic-data — a live skeleton, proving the pattern ports</a:t>
            </a:r>
          </a:p>
        </p:txBody>
      </p:sp>
    </p:spTree>
    <p:extLst>
      <p:ext uri="{BB962C8B-B14F-4D97-AF65-F5344CB8AC3E}">
        <p14:creationId xmlns:p14="http://schemas.microsoft.com/office/powerpoint/2010/main" val="607273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67B15-3C31-4EE9-4C0D-1835C80AE977}"/>
              </a:ext>
            </a:extLst>
          </p:cNvPr>
          <p:cNvSpPr>
            <a:spLocks noGrp="1"/>
          </p:cNvSpPr>
          <p:nvPr>
            <p:ph type="title"/>
          </p:nvPr>
        </p:nvSpPr>
        <p:spPr/>
        <p:txBody>
          <a:bodyPr/>
          <a:lstStyle/>
          <a:p>
            <a:r>
              <a:rPr lang="en-US" dirty="0"/>
              <a:t>Two blueprints, two stages of maturity</a:t>
            </a:r>
          </a:p>
        </p:txBody>
      </p:sp>
      <p:sp>
        <p:nvSpPr>
          <p:cNvPr id="950" name="BP"/>
          <p:cNvSpPr/>
          <p:nvPr/>
        </p:nvSpPr>
        <p:spPr>
          <a:xfrm>
            <a:off x="838200" y="1905000"/>
            <a:ext cx="5156200" cy="3708400"/>
          </a:xfrm>
          <a:prstGeom prst="roundRect">
            <a:avLst>
              <a:gd name="adj" fmla="val 5000"/>
            </a:avLst>
          </a:prstGeom>
          <a:solidFill>
            <a:srgbClr val="1C2027"/>
          </a:solidFill>
          <a:ln w="12700">
            <a:solidFill>
              <a:srgbClr val="FFB74D"/>
            </a:solidFill>
          </a:ln>
        </p:spPr>
        <p:txBody>
          <a:bodyPr lIns="228600" tIns="190500" rIns="228600" bIns="190500" anchor="t">
            <a:noAutofit/>
          </a:bodyPr>
          <a:lstStyle/>
          <a:p>
            <a:pPr algn="l">
              <a:buNone/>
            </a:pPr>
            <a:r>
              <a:rPr lang="en-US" sz="2200" b="1" dirty="0">
                <a:solidFill>
                  <a:srgbClr val="FFFFFF"/>
                </a:solidFill>
                <a:latin typeface="Consolas"/>
              </a:rPr>
              <a:t>power-bi/</a:t>
            </a:r>
            <a:r>
              <a:rPr lang="en-US" sz="1400" b="1" dirty="0">
                <a:solidFill>
                  <a:srgbClr val="FFB74D"/>
                </a:solidFill>
              </a:rPr>
              <a:t>   MATURE</a:t>
            </a:r>
          </a:p>
          <a:p>
            <a:pPr algn="l">
              <a:spcBef>
                <a:spcPts val="500"/>
              </a:spcBef>
              <a:buNone/>
            </a:pPr>
            <a:r>
              <a:rPr lang="en-US" sz="3200" b="1" dirty="0">
                <a:solidFill>
                  <a:srgbClr val="FFB74D"/>
                </a:solidFill>
              </a:rPr>
              <a:t>~493</a:t>
            </a:r>
            <a:r>
              <a:rPr lang="en-US" sz="1500" dirty="0">
                <a:solidFill>
                  <a:srgbClr val="AAB2BC"/>
                </a:solidFill>
              </a:rPr>
              <a:t>  atomic files</a:t>
            </a:r>
          </a:p>
          <a:p>
            <a:pPr algn="l">
              <a:spcBef>
                <a:spcPts val="800"/>
              </a:spcBef>
              <a:buNone/>
            </a:pPr>
            <a:r>
              <a:rPr lang="en-US" sz="1400" b="1" dirty="0">
                <a:solidFill>
                  <a:srgbClr val="FFFFFF"/>
                </a:solidFill>
              </a:rPr>
              <a:t>ROOMS</a:t>
            </a:r>
          </a:p>
          <a:p>
            <a:pPr marL="228600" indent="-228600">
              <a:spcBef>
                <a:spcPts val="300"/>
              </a:spcBef>
              <a:buClr>
                <a:srgbClr val="FFB74D"/>
              </a:buClr>
              <a:buFont typeface="Arial"/>
              <a:buChar char="•"/>
            </a:pPr>
            <a:r>
              <a:rPr lang="en-US" sz="1500" dirty="0">
                <a:solidFill>
                  <a:srgbClr val="C3C9D1"/>
                </a:solidFill>
                <a:latin typeface="Consolas"/>
              </a:rPr>
              <a:t>01-brief/</a:t>
            </a:r>
            <a:r>
              <a:rPr lang="en-US" sz="1500" dirty="0">
                <a:solidFill>
                  <a:srgbClr val="8A939E"/>
                </a:solidFill>
              </a:rPr>
              <a:t>  intake and requirements</a:t>
            </a:r>
          </a:p>
          <a:p>
            <a:pPr marL="228600" indent="-228600">
              <a:spcBef>
                <a:spcPts val="300"/>
              </a:spcBef>
              <a:buClr>
                <a:srgbClr val="FFB74D"/>
              </a:buClr>
              <a:buFont typeface="Arial"/>
              <a:buChar char="•"/>
            </a:pPr>
            <a:r>
              <a:rPr lang="en-US" sz="1500" dirty="0">
                <a:solidFill>
                  <a:srgbClr val="C3C9D1"/>
                </a:solidFill>
                <a:latin typeface="Consolas"/>
              </a:rPr>
              <a:t>02-build/</a:t>
            </a:r>
            <a:r>
              <a:rPr lang="en-US" sz="1500" dirty="0">
                <a:solidFill>
                  <a:srgbClr val="8A939E"/>
                </a:solidFill>
              </a:rPr>
              <a:t>  report · model · theme · visuals</a:t>
            </a:r>
          </a:p>
          <a:p>
            <a:pPr marL="228600" indent="-228600">
              <a:spcBef>
                <a:spcPts val="300"/>
              </a:spcBef>
              <a:buClr>
                <a:srgbClr val="FFB74D"/>
              </a:buClr>
              <a:buFont typeface="Arial"/>
              <a:buChar char="•"/>
            </a:pPr>
            <a:r>
              <a:rPr lang="en-US" sz="1500" dirty="0">
                <a:solidFill>
                  <a:srgbClr val="C3C9D1"/>
                </a:solidFill>
                <a:latin typeface="Consolas"/>
              </a:rPr>
              <a:t>03-bind/</a:t>
            </a:r>
            <a:r>
              <a:rPr lang="en-US" sz="1500" dirty="0">
                <a:solidFill>
                  <a:srgbClr val="8A939E"/>
                </a:solidFill>
              </a:rPr>
              <a:t>  live model ops — MCP or TOM</a:t>
            </a:r>
          </a:p>
          <a:p>
            <a:pPr marL="228600" indent="-228600">
              <a:spcBef>
                <a:spcPts val="300"/>
              </a:spcBef>
              <a:buClr>
                <a:srgbClr val="FFB74D"/>
              </a:buClr>
              <a:buFont typeface="Arial"/>
              <a:buChar char="•"/>
            </a:pPr>
            <a:r>
              <a:rPr lang="en-US" sz="1500" dirty="0">
                <a:solidFill>
                  <a:srgbClr val="C3C9D1"/>
                </a:solidFill>
                <a:latin typeface="Consolas"/>
              </a:rPr>
              <a:t>04-review/</a:t>
            </a:r>
            <a:r>
              <a:rPr lang="en-US" sz="1500" dirty="0">
                <a:solidFill>
                  <a:srgbClr val="8A939E"/>
                </a:solidFill>
              </a:rPr>
              <a:t>  validate, audit, lineage</a:t>
            </a:r>
          </a:p>
          <a:p>
            <a:pPr algn="l">
              <a:spcBef>
                <a:spcPts val="800"/>
              </a:spcBef>
              <a:buNone/>
            </a:pPr>
            <a:r>
              <a:rPr lang="en-US" sz="1400" i="1" dirty="0">
                <a:solidFill>
                  <a:srgbClr val="8A939E"/>
                </a:solidFill>
              </a:rPr>
              <a:t>Plus projects/, outputs/, _examples/ and all three hook subsystems.</a:t>
            </a:r>
          </a:p>
        </p:txBody>
      </p:sp>
      <p:sp>
        <p:nvSpPr>
          <p:cNvPr id="951" name="BP"/>
          <p:cNvSpPr/>
          <p:nvPr/>
        </p:nvSpPr>
        <p:spPr>
          <a:xfrm>
            <a:off x="6197600" y="1905000"/>
            <a:ext cx="5156200" cy="3708400"/>
          </a:xfrm>
          <a:prstGeom prst="roundRect">
            <a:avLst>
              <a:gd name="adj" fmla="val 5000"/>
            </a:avLst>
          </a:prstGeom>
          <a:solidFill>
            <a:srgbClr val="1C2027"/>
          </a:solidFill>
          <a:ln w="12700">
            <a:solidFill>
              <a:srgbClr val="66BB6A"/>
            </a:solidFill>
          </a:ln>
        </p:spPr>
        <p:txBody>
          <a:bodyPr lIns="228600" tIns="190500" rIns="228600" bIns="190500" anchor="t">
            <a:noAutofit/>
          </a:bodyPr>
          <a:lstStyle/>
          <a:p>
            <a:pPr algn="l">
              <a:buNone/>
            </a:pPr>
            <a:r>
              <a:rPr lang="en-US" sz="2200" b="1" dirty="0">
                <a:solidFill>
                  <a:srgbClr val="FFFFFF"/>
                </a:solidFill>
                <a:latin typeface="Consolas"/>
              </a:rPr>
              <a:t>synthetic-data/</a:t>
            </a:r>
            <a:r>
              <a:rPr lang="en-US" sz="1400" b="1" dirty="0">
                <a:solidFill>
                  <a:srgbClr val="66BB6A"/>
                </a:solidFill>
              </a:rPr>
              <a:t>   SKELETON</a:t>
            </a:r>
          </a:p>
          <a:p>
            <a:pPr algn="l">
              <a:spcBef>
                <a:spcPts val="500"/>
              </a:spcBef>
              <a:buNone/>
            </a:pPr>
            <a:r>
              <a:rPr lang="en-US" sz="3200" b="1" dirty="0">
                <a:solidFill>
                  <a:srgbClr val="66BB6A"/>
                </a:solidFill>
              </a:rPr>
              <a:t>13</a:t>
            </a:r>
            <a:r>
              <a:rPr lang="en-US" sz="1500" dirty="0">
                <a:solidFill>
                  <a:srgbClr val="AAB2BC"/>
                </a:solidFill>
              </a:rPr>
              <a:t>  atomic files</a:t>
            </a:r>
          </a:p>
          <a:p>
            <a:pPr algn="l">
              <a:spcBef>
                <a:spcPts val="800"/>
              </a:spcBef>
              <a:buNone/>
            </a:pPr>
            <a:r>
              <a:rPr lang="en-US" sz="1400" b="1" dirty="0">
                <a:solidFill>
                  <a:srgbClr val="FFFFFF"/>
                </a:solidFill>
              </a:rPr>
              <a:t>ROOMS</a:t>
            </a:r>
          </a:p>
          <a:p>
            <a:pPr marL="228600" indent="-228600">
              <a:spcBef>
                <a:spcPts val="300"/>
              </a:spcBef>
              <a:buClr>
                <a:srgbClr val="66BB6A"/>
              </a:buClr>
              <a:buFont typeface="Arial"/>
              <a:buChar char="•"/>
            </a:pPr>
            <a:r>
              <a:rPr lang="en-US" sz="1500" dirty="0">
                <a:solidFill>
                  <a:srgbClr val="C3C9D1"/>
                </a:solidFill>
                <a:latin typeface="Consolas"/>
              </a:rPr>
              <a:t>01-brief/</a:t>
            </a:r>
            <a:r>
              <a:rPr lang="en-US" sz="1500" dirty="0">
                <a:solidFill>
                  <a:srgbClr val="8A939E"/>
                </a:solidFill>
              </a:rPr>
              <a:t>  what data, volume, seed, PII</a:t>
            </a:r>
          </a:p>
          <a:p>
            <a:pPr marL="228600" indent="-228600">
              <a:spcBef>
                <a:spcPts val="300"/>
              </a:spcBef>
              <a:buClr>
                <a:srgbClr val="66BB6A"/>
              </a:buClr>
              <a:buFont typeface="Arial"/>
              <a:buChar char="•"/>
            </a:pPr>
            <a:r>
              <a:rPr lang="en-US" sz="1500" dirty="0">
                <a:solidFill>
                  <a:srgbClr val="C3C9D1"/>
                </a:solidFill>
                <a:latin typeface="Consolas"/>
              </a:rPr>
              <a:t>02-schema/</a:t>
            </a:r>
            <a:r>
              <a:rPr lang="en-US" sz="1500" dirty="0">
                <a:solidFill>
                  <a:srgbClr val="8A939E"/>
                </a:solidFill>
              </a:rPr>
              <a:t>  define the data shape</a:t>
            </a:r>
          </a:p>
          <a:p>
            <a:pPr marL="228600" indent="-228600">
              <a:spcBef>
                <a:spcPts val="300"/>
              </a:spcBef>
              <a:buClr>
                <a:srgbClr val="66BB6A"/>
              </a:buClr>
              <a:buFont typeface="Arial"/>
              <a:buChar char="•"/>
            </a:pPr>
            <a:r>
              <a:rPr lang="en-US" sz="1500" dirty="0">
                <a:solidFill>
                  <a:srgbClr val="C3C9D1"/>
                </a:solidFill>
                <a:latin typeface="Consolas"/>
              </a:rPr>
              <a:t>03-generate/</a:t>
            </a:r>
            <a:r>
              <a:rPr lang="en-US" sz="1500" dirty="0">
                <a:solidFill>
                  <a:srgbClr val="8A939E"/>
                </a:solidFill>
              </a:rPr>
              <a:t>  faker · distribution · relational</a:t>
            </a:r>
          </a:p>
          <a:p>
            <a:pPr marL="228600" indent="-228600">
              <a:spcBef>
                <a:spcPts val="300"/>
              </a:spcBef>
              <a:buClr>
                <a:srgbClr val="66BB6A"/>
              </a:buClr>
              <a:buFont typeface="Arial"/>
              <a:buChar char="•"/>
            </a:pPr>
            <a:r>
              <a:rPr lang="en-US" sz="1500" dirty="0">
                <a:solidFill>
                  <a:srgbClr val="C3C9D1"/>
                </a:solidFill>
                <a:latin typeface="Consolas"/>
              </a:rPr>
              <a:t>04-output/</a:t>
            </a:r>
            <a:r>
              <a:rPr lang="en-US" sz="1500" dirty="0">
                <a:solidFill>
                  <a:srgbClr val="8A939E"/>
                </a:solidFill>
              </a:rPr>
              <a:t>  serialize, deliver, hand off</a:t>
            </a:r>
          </a:p>
          <a:p>
            <a:pPr marL="228600" indent="-228600">
              <a:spcBef>
                <a:spcPts val="300"/>
              </a:spcBef>
              <a:buClr>
                <a:srgbClr val="66BB6A"/>
              </a:buClr>
              <a:buFont typeface="Arial"/>
              <a:buChar char="•"/>
            </a:pPr>
            <a:r>
              <a:rPr lang="en-US" sz="1500" dirty="0">
                <a:solidFill>
                  <a:srgbClr val="C3C9D1"/>
                </a:solidFill>
                <a:latin typeface="Consolas"/>
              </a:rPr>
              <a:t>05-review/</a:t>
            </a:r>
            <a:r>
              <a:rPr lang="en-US" sz="1500" dirty="0">
                <a:solidFill>
                  <a:srgbClr val="8A939E"/>
                </a:solidFill>
              </a:rPr>
              <a:t>  profile and audit for leakage</a:t>
            </a:r>
          </a:p>
          <a:p>
            <a:pPr algn="l">
              <a:spcBef>
                <a:spcPts val="800"/>
              </a:spcBef>
              <a:buNone/>
            </a:pPr>
            <a:r>
              <a:rPr lang="en-US" sz="1400" i="1" dirty="0">
                <a:solidFill>
                  <a:srgbClr val="8A939E"/>
                </a:solidFill>
              </a:rPr>
              <a:t>Python-first. Proves the pattern ports to a different domain.</a:t>
            </a:r>
          </a:p>
        </p:txBody>
      </p:sp>
      <p:sp>
        <p:nvSpPr>
          <p:cNvPr id="952" name="Foot"/>
          <p:cNvSpPr/>
          <p:nvPr/>
        </p:nvSpPr>
        <p:spPr>
          <a:xfrm>
            <a:off x="838200" y="5791200"/>
            <a:ext cx="10515600" cy="660400"/>
          </a:xfrm>
          <a:prstGeom prst="roundRect">
            <a:avLst>
              <a:gd name="adj" fmla="val 14000"/>
            </a:avLst>
          </a:prstGeom>
          <a:solidFill>
            <a:srgbClr val="20242B"/>
          </a:solidFill>
          <a:ln>
            <a:noFill/>
          </a:ln>
        </p:spPr>
        <p:txBody>
          <a:bodyPr lIns="228600" rIns="228600" anchor="ctr">
            <a:noAutofit/>
          </a:bodyPr>
          <a:lstStyle/>
          <a:p>
            <a:pPr algn="l">
              <a:buNone/>
            </a:pPr>
            <a:r>
              <a:rPr lang="en-US" sz="1600" b="1" dirty="0">
                <a:solidFill>
                  <a:srgbClr val="4FC3F7"/>
                </a:solidFill>
              </a:rPr>
              <a:t>Same shape, different domain. </a:t>
            </a:r>
            <a:r>
              <a:rPr lang="en-US" sz="1600" dirty="0">
                <a:solidFill>
                  <a:srgbClr val="D6DAE0"/>
                </a:solidFill>
              </a:rPr>
              <a:t>The workspace router picks the blueprint; each blueprint routes within itself.</a:t>
            </a:r>
          </a:p>
        </p:txBody>
      </p:sp>
    </p:spTree>
    <p:extLst>
      <p:ext uri="{BB962C8B-B14F-4D97-AF65-F5344CB8AC3E}">
        <p14:creationId xmlns:p14="http://schemas.microsoft.com/office/powerpoint/2010/main" val="28851504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D16BB-38C0-B1FD-F54A-9D0551CA3AFB}"/>
              </a:ext>
            </a:extLst>
          </p:cNvPr>
          <p:cNvSpPr>
            <a:spLocks noGrp="1"/>
          </p:cNvSpPr>
          <p:nvPr>
            <p:ph type="title"/>
          </p:nvPr>
        </p:nvSpPr>
        <p:spPr/>
        <p:txBody>
          <a:bodyPr/>
          <a:lstStyle/>
          <a:p>
            <a:r>
              <a:rPr lang="en-US" dirty="0"/>
              <a:t>1 — How a request becomes the right files</a:t>
            </a:r>
          </a:p>
        </p:txBody>
      </p:sp>
      <p:sp>
        <p:nvSpPr>
          <p:cNvPr id="79" name="Rail"/>
          <p:cNvSpPr/>
          <p:nvPr/>
        </p:nvSpPr>
        <p:spPr>
          <a:xfrm>
            <a:off x="1231900" y="2184400"/>
            <a:ext cx="25400" cy="3276600"/>
          </a:xfrm>
          <a:prstGeom prst="rect">
            <a:avLst/>
          </a:prstGeom>
          <a:solidFill>
            <a:srgbClr val="2E343D"/>
          </a:solidFill>
          <a:ln>
            <a:noFill/>
          </a:ln>
        </p:spPr>
        <p:txBody>
          <a:bodyPr/>
          <a:lstStyle/>
          <a:p>
            <a:endParaRPr/>
          </a:p>
        </p:txBody>
      </p:sp>
      <p:sp>
        <p:nvSpPr>
          <p:cNvPr id="80" name="Chip0"/>
          <p:cNvSpPr/>
          <p:nvPr/>
        </p:nvSpPr>
        <p:spPr>
          <a:xfrm>
            <a:off x="1041400" y="1993900"/>
            <a:ext cx="406400" cy="406400"/>
          </a:xfrm>
          <a:prstGeom prst="ellipse">
            <a:avLst/>
          </a:prstGeom>
          <a:solidFill>
            <a:srgbClr val="78909C"/>
          </a:solidFill>
          <a:ln>
            <a:noFill/>
          </a:ln>
        </p:spPr>
        <p:txBody>
          <a:bodyPr lIns="0" tIns="0" rIns="0" bIns="0" anchor="ctr">
            <a:noAutofit/>
          </a:bodyPr>
          <a:lstStyle/>
          <a:p>
            <a:pPr algn="ctr">
              <a:buNone/>
            </a:pPr>
            <a:r>
              <a:rPr lang="en-US" sz="1400" b="1" dirty="0">
                <a:solidFill>
                  <a:srgbClr val="14161A"/>
                </a:solidFill>
              </a:rPr>
              <a:t>1</a:t>
            </a:r>
          </a:p>
        </p:txBody>
      </p:sp>
      <p:sp>
        <p:nvSpPr>
          <p:cNvPr id="90" name="Step0"/>
          <p:cNvSpPr/>
          <p:nvPr/>
        </p:nvSpPr>
        <p:spPr>
          <a:xfrm>
            <a:off x="1651000" y="1905000"/>
            <a:ext cx="9702800" cy="584200"/>
          </a:xfrm>
          <a:prstGeom prst="roundRect">
            <a:avLst>
              <a:gd name="adj" fmla="val 12000"/>
            </a:avLst>
          </a:prstGeom>
          <a:solidFill>
            <a:srgbClr val="1C2027"/>
          </a:solidFill>
          <a:ln>
            <a:noFill/>
          </a:ln>
        </p:spPr>
        <p:txBody>
          <a:bodyPr lIns="190500" tIns="0" rIns="190500" bIns="0" anchor="ctr">
            <a:noAutofit/>
          </a:bodyPr>
          <a:lstStyle/>
          <a:p>
            <a:pPr algn="l">
              <a:buNone/>
            </a:pPr>
            <a:r>
              <a:rPr lang="en-US" sz="1600" b="1" dirty="0">
                <a:solidFill>
                  <a:srgbClr val="FFFFFF"/>
                </a:solidFill>
                <a:latin typeface="Consolas"/>
              </a:rPr>
              <a:t>User: “create a theme”</a:t>
            </a:r>
            <a:r>
              <a:rPr lang="en-US" sz="1500" dirty="0">
                <a:solidFill>
                  <a:srgbClr val="9AA4B0"/>
                </a:solidFill>
              </a:rPr>
              <a:t>   —  the request arrives with no path attached</a:t>
            </a:r>
          </a:p>
        </p:txBody>
      </p:sp>
      <p:sp>
        <p:nvSpPr>
          <p:cNvPr id="81" name="Chip1"/>
          <p:cNvSpPr/>
          <p:nvPr/>
        </p:nvSpPr>
        <p:spPr>
          <a:xfrm>
            <a:off x="1041400" y="2641600"/>
            <a:ext cx="406400" cy="406400"/>
          </a:xfrm>
          <a:prstGeom prst="ellipse">
            <a:avLst/>
          </a:prstGeom>
          <a:solidFill>
            <a:srgbClr val="4FC3F7"/>
          </a:solidFill>
          <a:ln>
            <a:noFill/>
          </a:ln>
        </p:spPr>
        <p:txBody>
          <a:bodyPr lIns="0" tIns="0" rIns="0" bIns="0" anchor="ctr">
            <a:noAutofit/>
          </a:bodyPr>
          <a:lstStyle/>
          <a:p>
            <a:pPr algn="ctr">
              <a:buNone/>
            </a:pPr>
            <a:r>
              <a:rPr lang="en-US" sz="1400" b="1" dirty="0">
                <a:solidFill>
                  <a:srgbClr val="14161A"/>
                </a:solidFill>
              </a:rPr>
              <a:t>2</a:t>
            </a:r>
          </a:p>
        </p:txBody>
      </p:sp>
      <p:sp>
        <p:nvSpPr>
          <p:cNvPr id="91" name="Step1"/>
          <p:cNvSpPr/>
          <p:nvPr/>
        </p:nvSpPr>
        <p:spPr>
          <a:xfrm>
            <a:off x="1651000" y="2552700"/>
            <a:ext cx="9702800" cy="584200"/>
          </a:xfrm>
          <a:prstGeom prst="roundRect">
            <a:avLst>
              <a:gd name="adj" fmla="val 12000"/>
            </a:avLst>
          </a:prstGeom>
          <a:solidFill>
            <a:srgbClr val="1C2027"/>
          </a:solidFill>
          <a:ln>
            <a:noFill/>
          </a:ln>
        </p:spPr>
        <p:txBody>
          <a:bodyPr lIns="190500" tIns="0" rIns="190500" bIns="0" anchor="ctr">
            <a:noAutofit/>
          </a:bodyPr>
          <a:lstStyle/>
          <a:p>
            <a:pPr algn="l">
              <a:buNone/>
            </a:pPr>
            <a:r>
              <a:rPr lang="en-US" sz="1600" b="1" dirty="0">
                <a:solidFill>
                  <a:srgbClr val="FFFFFF"/>
                </a:solidFill>
                <a:latin typeface="Consolas"/>
              </a:rPr>
              <a:t>CLAUDE.md</a:t>
            </a:r>
            <a:r>
              <a:rPr lang="en-US" sz="1500" dirty="0">
                <a:solidFill>
                  <a:srgbClr val="9AA4B0"/>
                </a:solidFill>
              </a:rPr>
              <a:t>   —  workspace L1 router — picks the blueprint</a:t>
            </a:r>
          </a:p>
        </p:txBody>
      </p:sp>
      <p:sp>
        <p:nvSpPr>
          <p:cNvPr id="82" name="Chip2"/>
          <p:cNvSpPr/>
          <p:nvPr/>
        </p:nvSpPr>
        <p:spPr>
          <a:xfrm>
            <a:off x="1041400" y="3289300"/>
            <a:ext cx="406400" cy="406400"/>
          </a:xfrm>
          <a:prstGeom prst="ellipse">
            <a:avLst/>
          </a:prstGeom>
          <a:solidFill>
            <a:srgbClr val="4FC3F7"/>
          </a:solidFill>
          <a:ln>
            <a:noFill/>
          </a:ln>
        </p:spPr>
        <p:txBody>
          <a:bodyPr lIns="0" tIns="0" rIns="0" bIns="0" anchor="ctr">
            <a:noAutofit/>
          </a:bodyPr>
          <a:lstStyle/>
          <a:p>
            <a:pPr algn="ctr">
              <a:buNone/>
            </a:pPr>
            <a:r>
              <a:rPr lang="en-US" sz="1400" b="1" dirty="0">
                <a:solidFill>
                  <a:srgbClr val="14161A"/>
                </a:solidFill>
              </a:rPr>
              <a:t>3</a:t>
            </a:r>
          </a:p>
        </p:txBody>
      </p:sp>
      <p:sp>
        <p:nvSpPr>
          <p:cNvPr id="92" name="Step2"/>
          <p:cNvSpPr/>
          <p:nvPr/>
        </p:nvSpPr>
        <p:spPr>
          <a:xfrm>
            <a:off x="1651000" y="3200400"/>
            <a:ext cx="9702800" cy="584200"/>
          </a:xfrm>
          <a:prstGeom prst="roundRect">
            <a:avLst>
              <a:gd name="adj" fmla="val 12000"/>
            </a:avLst>
          </a:prstGeom>
          <a:solidFill>
            <a:srgbClr val="1C2027"/>
          </a:solidFill>
          <a:ln>
            <a:noFill/>
          </a:ln>
        </p:spPr>
        <p:txBody>
          <a:bodyPr lIns="190500" tIns="0" rIns="190500" bIns="0" anchor="ctr">
            <a:noAutofit/>
          </a:bodyPr>
          <a:lstStyle/>
          <a:p>
            <a:pPr algn="l">
              <a:buNone/>
            </a:pPr>
            <a:r>
              <a:rPr lang="en-US" sz="1600" b="1" dirty="0">
                <a:solidFill>
                  <a:srgbClr val="FFFFFF"/>
                </a:solidFill>
                <a:latin typeface="Consolas"/>
              </a:rPr>
              <a:t>power-bi/CLAUDE.md</a:t>
            </a:r>
            <a:r>
              <a:rPr lang="en-US" sz="1500" dirty="0">
                <a:solidFill>
                  <a:srgbClr val="9AA4B0"/>
                </a:solidFill>
              </a:rPr>
              <a:t>   —  blueprint L1 router — matches intent to a room</a:t>
            </a:r>
          </a:p>
        </p:txBody>
      </p:sp>
      <p:sp>
        <p:nvSpPr>
          <p:cNvPr id="83" name="Chip3"/>
          <p:cNvSpPr/>
          <p:nvPr/>
        </p:nvSpPr>
        <p:spPr>
          <a:xfrm>
            <a:off x="1041400" y="3937000"/>
            <a:ext cx="406400" cy="406400"/>
          </a:xfrm>
          <a:prstGeom prst="ellipse">
            <a:avLst/>
          </a:prstGeom>
          <a:solidFill>
            <a:srgbClr val="FFB74D"/>
          </a:solidFill>
          <a:ln>
            <a:noFill/>
          </a:ln>
        </p:spPr>
        <p:txBody>
          <a:bodyPr lIns="0" tIns="0" rIns="0" bIns="0" anchor="ctr">
            <a:noAutofit/>
          </a:bodyPr>
          <a:lstStyle/>
          <a:p>
            <a:pPr algn="ctr">
              <a:buNone/>
            </a:pPr>
            <a:r>
              <a:rPr lang="en-US" sz="1400" b="1" dirty="0">
                <a:solidFill>
                  <a:srgbClr val="14161A"/>
                </a:solidFill>
              </a:rPr>
              <a:t>4</a:t>
            </a:r>
          </a:p>
        </p:txBody>
      </p:sp>
      <p:sp>
        <p:nvSpPr>
          <p:cNvPr id="93" name="Step3"/>
          <p:cNvSpPr/>
          <p:nvPr/>
        </p:nvSpPr>
        <p:spPr>
          <a:xfrm>
            <a:off x="1651000" y="3848100"/>
            <a:ext cx="9702800" cy="584200"/>
          </a:xfrm>
          <a:prstGeom prst="roundRect">
            <a:avLst>
              <a:gd name="adj" fmla="val 12000"/>
            </a:avLst>
          </a:prstGeom>
          <a:solidFill>
            <a:srgbClr val="1C2027"/>
          </a:solidFill>
          <a:ln>
            <a:noFill/>
          </a:ln>
        </p:spPr>
        <p:txBody>
          <a:bodyPr lIns="190500" tIns="0" rIns="190500" bIns="0" anchor="ctr">
            <a:noAutofit/>
          </a:bodyPr>
          <a:lstStyle/>
          <a:p>
            <a:pPr algn="l">
              <a:buNone/>
            </a:pPr>
            <a:r>
              <a:rPr lang="en-US" sz="1600" b="1" dirty="0">
                <a:solidFill>
                  <a:srgbClr val="FFFFFF"/>
                </a:solidFill>
                <a:latin typeface="Consolas"/>
              </a:rPr>
              <a:t>02-build/theme/context.md</a:t>
            </a:r>
            <a:r>
              <a:rPr lang="en-US" sz="1500" dirty="0">
                <a:solidFill>
                  <a:srgbClr val="9AA4B0"/>
                </a:solidFill>
              </a:rPr>
              <a:t>   —  L2 room — scope plus the workflow order</a:t>
            </a:r>
          </a:p>
        </p:txBody>
      </p:sp>
      <p:sp>
        <p:nvSpPr>
          <p:cNvPr id="84" name="Chip4"/>
          <p:cNvSpPr/>
          <p:nvPr/>
        </p:nvSpPr>
        <p:spPr>
          <a:xfrm>
            <a:off x="1041400" y="4584700"/>
            <a:ext cx="406400" cy="406400"/>
          </a:xfrm>
          <a:prstGeom prst="ellipse">
            <a:avLst/>
          </a:prstGeom>
          <a:solidFill>
            <a:srgbClr val="66BB6A"/>
          </a:solidFill>
          <a:ln>
            <a:noFill/>
          </a:ln>
        </p:spPr>
        <p:txBody>
          <a:bodyPr lIns="0" tIns="0" rIns="0" bIns="0" anchor="ctr">
            <a:noAutofit/>
          </a:bodyPr>
          <a:lstStyle/>
          <a:p>
            <a:pPr algn="ctr">
              <a:buNone/>
            </a:pPr>
            <a:r>
              <a:rPr lang="en-US" sz="1400" b="1" dirty="0">
                <a:solidFill>
                  <a:srgbClr val="14161A"/>
                </a:solidFill>
              </a:rPr>
              <a:t>5</a:t>
            </a:r>
          </a:p>
        </p:txBody>
      </p:sp>
      <p:sp>
        <p:nvSpPr>
          <p:cNvPr id="94" name="Step4"/>
          <p:cNvSpPr/>
          <p:nvPr/>
        </p:nvSpPr>
        <p:spPr>
          <a:xfrm>
            <a:off x="1651000" y="4495800"/>
            <a:ext cx="9702800" cy="584200"/>
          </a:xfrm>
          <a:prstGeom prst="roundRect">
            <a:avLst>
              <a:gd name="adj" fmla="val 12000"/>
            </a:avLst>
          </a:prstGeom>
          <a:solidFill>
            <a:srgbClr val="1C2027"/>
          </a:solidFill>
          <a:ln>
            <a:noFill/>
          </a:ln>
        </p:spPr>
        <p:txBody>
          <a:bodyPr lIns="190500" tIns="0" rIns="190500" bIns="0" anchor="ctr">
            <a:noAutofit/>
          </a:bodyPr>
          <a:lstStyle/>
          <a:p>
            <a:pPr algn="l">
              <a:buNone/>
            </a:pPr>
            <a:r>
              <a:rPr lang="en-US" sz="1600" b="1" dirty="0">
                <a:solidFill>
                  <a:srgbClr val="FFFFFF"/>
                </a:solidFill>
                <a:latin typeface="Consolas"/>
              </a:rPr>
              <a:t>cascade.md · color-system.md · …</a:t>
            </a:r>
            <a:r>
              <a:rPr lang="en-US" sz="1500" dirty="0">
                <a:solidFill>
                  <a:srgbClr val="9AA4B0"/>
                </a:solidFill>
              </a:rPr>
              <a:t>   —  L3 atoms — only what this step needs</a:t>
            </a:r>
          </a:p>
        </p:txBody>
      </p:sp>
      <p:sp>
        <p:nvSpPr>
          <p:cNvPr id="85" name="Chip5"/>
          <p:cNvSpPr/>
          <p:nvPr/>
        </p:nvSpPr>
        <p:spPr>
          <a:xfrm>
            <a:off x="1041400" y="5232400"/>
            <a:ext cx="406400" cy="406400"/>
          </a:xfrm>
          <a:prstGeom prst="ellipse">
            <a:avLst/>
          </a:prstGeom>
          <a:solidFill>
            <a:srgbClr val="BA68C8"/>
          </a:solidFill>
          <a:ln>
            <a:noFill/>
          </a:ln>
        </p:spPr>
        <p:txBody>
          <a:bodyPr lIns="0" tIns="0" rIns="0" bIns="0" anchor="ctr">
            <a:noAutofit/>
          </a:bodyPr>
          <a:lstStyle/>
          <a:p>
            <a:pPr algn="ctr">
              <a:buNone/>
            </a:pPr>
            <a:r>
              <a:rPr lang="en-US" sz="1400" b="1" dirty="0">
                <a:solidFill>
                  <a:srgbClr val="14161A"/>
                </a:solidFill>
              </a:rPr>
              <a:t>6</a:t>
            </a:r>
          </a:p>
        </p:txBody>
      </p:sp>
      <p:sp>
        <p:nvSpPr>
          <p:cNvPr id="95" name="Step5"/>
          <p:cNvSpPr/>
          <p:nvPr/>
        </p:nvSpPr>
        <p:spPr>
          <a:xfrm>
            <a:off x="1651000" y="5143500"/>
            <a:ext cx="9702800" cy="584200"/>
          </a:xfrm>
          <a:prstGeom prst="roundRect">
            <a:avLst>
              <a:gd name="adj" fmla="val 12000"/>
            </a:avLst>
          </a:prstGeom>
          <a:solidFill>
            <a:srgbClr val="1C2027"/>
          </a:solidFill>
          <a:ln>
            <a:noFill/>
          </a:ln>
        </p:spPr>
        <p:txBody>
          <a:bodyPr lIns="190500" tIns="0" rIns="190500" bIns="0" anchor="ctr">
            <a:noAutofit/>
          </a:bodyPr>
          <a:lstStyle/>
          <a:p>
            <a:pPr algn="l">
              <a:buNone/>
            </a:pPr>
            <a:r>
              <a:rPr lang="en-US" sz="1600" b="1" dirty="0">
                <a:solidFill>
                  <a:srgbClr val="FFFFFF"/>
                </a:solidFill>
                <a:latin typeface="Consolas"/>
              </a:rPr>
              <a:t>Execute</a:t>
            </a:r>
            <a:r>
              <a:rPr lang="en-US" sz="1500" dirty="0">
                <a:solidFill>
                  <a:srgbClr val="9AA4B0"/>
                </a:solidFill>
              </a:rPr>
              <a:t>   —  edit the theme JSON via the pbir CLI</a:t>
            </a:r>
          </a:p>
        </p:txBody>
      </p:sp>
      <p:sp>
        <p:nvSpPr>
          <p:cNvPr id="99" name="Foot"/>
          <p:cNvSpPr/>
          <p:nvPr/>
        </p:nvSpPr>
        <p:spPr>
          <a:xfrm>
            <a:off x="1651000" y="5867400"/>
            <a:ext cx="9702800" cy="431800"/>
          </a:xfrm>
          <a:prstGeom prst="rect">
            <a:avLst/>
          </a:prstGeom>
          <a:noFill/>
          <a:ln>
            <a:noFill/>
          </a:ln>
        </p:spPr>
        <p:txBody>
          <a:bodyPr lIns="190500" tIns="0" rIns="0" bIns="0" anchor="ctr"/>
          <a:lstStyle/>
          <a:p>
            <a:pPr algn="l">
              <a:buNone/>
            </a:pPr>
            <a:r>
              <a:rPr lang="en-US" sz="1500" i="1" dirty="0">
                <a:solidFill>
                  <a:srgbClr val="8A939E"/>
                </a:solidFill>
              </a:rPr>
              <a:t>The L1 router holds the routing table. Claude follows it — it never browses the filesystem hunting for relevant files.</a:t>
            </a:r>
          </a:p>
        </p:txBody>
      </p:sp>
    </p:spTree>
    <p:extLst>
      <p:ext uri="{BB962C8B-B14F-4D97-AF65-F5344CB8AC3E}">
        <p14:creationId xmlns:p14="http://schemas.microsoft.com/office/powerpoint/2010/main" val="3562449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6B2BE-CC33-BF3C-F8DE-240458888586}"/>
              </a:ext>
            </a:extLst>
          </p:cNvPr>
          <p:cNvSpPr>
            <a:spLocks noGrp="1"/>
          </p:cNvSpPr>
          <p:nvPr>
            <p:ph type="title"/>
          </p:nvPr>
        </p:nvSpPr>
        <p:spPr/>
        <p:txBody>
          <a:bodyPr/>
          <a:lstStyle/>
          <a:p>
            <a:r>
              <a:rPr lang="en-US" dirty="0"/>
              <a:t>2 — Brief first, chat second</a:t>
            </a:r>
          </a:p>
        </p:txBody>
      </p:sp>
      <p:sp>
        <p:nvSpPr>
          <p:cNvPr id="200" name="B"/>
          <p:cNvSpPr/>
          <p:nvPr/>
        </p:nvSpPr>
        <p:spPr>
          <a:xfrm>
            <a:off x="838200" y="2082800"/>
            <a:ext cx="2476500" cy="1422400"/>
          </a:xfrm>
          <a:prstGeom prst="roundRect">
            <a:avLst>
              <a:gd name="adj" fmla="val 8000"/>
            </a:avLst>
          </a:prstGeom>
          <a:solidFill>
            <a:srgbClr val="1C2027"/>
          </a:solidFill>
          <a:ln w="12700">
            <a:solidFill>
              <a:srgbClr val="66BB6A"/>
            </a:solidFill>
          </a:ln>
        </p:spPr>
        <p:txBody>
          <a:bodyPr lIns="152400" tIns="127000" rIns="152400" bIns="127000" anchor="ctr">
            <a:normAutofit/>
          </a:bodyPr>
          <a:lstStyle/>
          <a:p>
            <a:pPr algn="l">
              <a:buNone/>
            </a:pPr>
            <a:r>
              <a:rPr lang="en-US" sz="1700" b="1" dirty="0">
                <a:solidFill>
                  <a:srgbClr val="66BB6A"/>
                </a:solidFill>
              </a:rPr>
              <a:t>brief.md exists</a:t>
            </a:r>
          </a:p>
          <a:p>
            <a:pPr algn="l">
              <a:spcBef>
                <a:spcPts val="400"/>
              </a:spcBef>
              <a:buNone/>
            </a:pPr>
            <a:r>
              <a:rPr lang="en-US" sz="1400" dirty="0">
                <a:solidFill>
                  <a:srgbClr val="AAB2BC"/>
                </a:solidFill>
              </a:rPr>
              <a:t>at projects/&lt;name&gt;/ — read it before asking anything</a:t>
            </a:r>
          </a:p>
        </p:txBody>
      </p:sp>
      <p:sp>
        <p:nvSpPr>
          <p:cNvPr id="201" name="B"/>
          <p:cNvSpPr/>
          <p:nvPr/>
        </p:nvSpPr>
        <p:spPr>
          <a:xfrm>
            <a:off x="3517900" y="2082800"/>
            <a:ext cx="2476500" cy="1422400"/>
          </a:xfrm>
          <a:prstGeom prst="roundRect">
            <a:avLst>
              <a:gd name="adj" fmla="val 8000"/>
            </a:avLst>
          </a:prstGeom>
          <a:solidFill>
            <a:srgbClr val="1C2027"/>
          </a:solidFill>
          <a:ln w="12700">
            <a:solidFill>
              <a:srgbClr val="2E343D"/>
            </a:solidFill>
          </a:ln>
        </p:spPr>
        <p:txBody>
          <a:bodyPr lIns="152400" tIns="127000" rIns="152400" bIns="127000" anchor="ctr">
            <a:normAutofit/>
          </a:bodyPr>
          <a:lstStyle/>
          <a:p>
            <a:pPr algn="l">
              <a:buNone/>
            </a:pPr>
            <a:r>
              <a:rPr lang="en-US" sz="1700" b="1" dirty="0">
                <a:solidFill>
                  <a:srgbClr val="FFFFFF"/>
                </a:solidFill>
              </a:rPr>
              <a:t>Any gaps?</a:t>
            </a:r>
          </a:p>
          <a:p>
            <a:pPr algn="l">
              <a:spcBef>
                <a:spcPts val="400"/>
              </a:spcBef>
              <a:buNone/>
            </a:pPr>
            <a:r>
              <a:rPr lang="en-US" sz="1400" dirty="0">
                <a:solidFill>
                  <a:srgbClr val="AAB2BC"/>
                </a:solidFill>
              </a:rPr>
              <a:t>sections marked [fill in], or listed as open questions</a:t>
            </a:r>
          </a:p>
        </p:txBody>
      </p:sp>
      <p:sp>
        <p:nvSpPr>
          <p:cNvPr id="202" name="B"/>
          <p:cNvSpPr/>
          <p:nvPr/>
        </p:nvSpPr>
        <p:spPr>
          <a:xfrm>
            <a:off x="6197600" y="2082800"/>
            <a:ext cx="2476500" cy="1422400"/>
          </a:xfrm>
          <a:prstGeom prst="roundRect">
            <a:avLst>
              <a:gd name="adj" fmla="val 8000"/>
            </a:avLst>
          </a:prstGeom>
          <a:solidFill>
            <a:srgbClr val="1C2027"/>
          </a:solidFill>
          <a:ln w="12700">
            <a:solidFill>
              <a:srgbClr val="2E343D"/>
            </a:solidFill>
          </a:ln>
        </p:spPr>
        <p:txBody>
          <a:bodyPr lIns="152400" tIns="127000" rIns="152400" bIns="127000" anchor="ctr">
            <a:normAutofit/>
          </a:bodyPr>
          <a:lstStyle/>
          <a:p>
            <a:pPr algn="l">
              <a:buNone/>
            </a:pPr>
            <a:r>
              <a:rPr lang="en-US" sz="1700" b="1" dirty="0">
                <a:solidFill>
                  <a:srgbClr val="FFFFFF"/>
                </a:solidFill>
              </a:rPr>
              <a:t>Ask only those</a:t>
            </a:r>
          </a:p>
          <a:p>
            <a:pPr algn="l">
              <a:spcBef>
                <a:spcPts val="400"/>
              </a:spcBef>
              <a:buNone/>
            </a:pPr>
            <a:r>
              <a:rPr lang="en-US" sz="1400" dirty="0">
                <a:solidFill>
                  <a:srgbClr val="AAB2BC"/>
                </a:solidFill>
              </a:rPr>
              <a:t>one targeted question set — nothing already answered</a:t>
            </a:r>
          </a:p>
        </p:txBody>
      </p:sp>
      <p:sp>
        <p:nvSpPr>
          <p:cNvPr id="203" name="B"/>
          <p:cNvSpPr/>
          <p:nvPr/>
        </p:nvSpPr>
        <p:spPr>
          <a:xfrm>
            <a:off x="8877300" y="2082800"/>
            <a:ext cx="2476500" cy="1422400"/>
          </a:xfrm>
          <a:prstGeom prst="roundRect">
            <a:avLst>
              <a:gd name="adj" fmla="val 8000"/>
            </a:avLst>
          </a:prstGeom>
          <a:solidFill>
            <a:srgbClr val="1C2027"/>
          </a:solidFill>
          <a:ln w="12700">
            <a:solidFill>
              <a:srgbClr val="4FC3F7"/>
            </a:solidFill>
          </a:ln>
        </p:spPr>
        <p:txBody>
          <a:bodyPr lIns="152400" tIns="127000" rIns="152400" bIns="127000" anchor="ctr">
            <a:normAutofit/>
          </a:bodyPr>
          <a:lstStyle/>
          <a:p>
            <a:pPr algn="l">
              <a:buNone/>
            </a:pPr>
            <a:r>
              <a:rPr lang="en-US" sz="1700" b="1" dirty="0">
                <a:solidFill>
                  <a:srgbClr val="4FC3F7"/>
                </a:solidFill>
              </a:rPr>
              <a:t>Plan → execute</a:t>
            </a:r>
          </a:p>
          <a:p>
            <a:pPr algn="l">
              <a:spcBef>
                <a:spcPts val="400"/>
              </a:spcBef>
              <a:buNone/>
            </a:pPr>
            <a:r>
              <a:rPr lang="en-US" sz="1400" dirty="0">
                <a:solidFill>
                  <a:srgbClr val="AAB2BC"/>
                </a:solidFill>
              </a:rPr>
              <a:t>the plan comes from the brief, not from chat memory</a:t>
            </a:r>
          </a:p>
        </p:txBody>
      </p:sp>
      <p:sp>
        <p:nvSpPr>
          <p:cNvPr id="204" name="B"/>
          <p:cNvSpPr/>
          <p:nvPr/>
        </p:nvSpPr>
        <p:spPr>
          <a:xfrm>
            <a:off x="838200" y="3962400"/>
            <a:ext cx="2476500" cy="1422400"/>
          </a:xfrm>
          <a:prstGeom prst="roundRect">
            <a:avLst>
              <a:gd name="adj" fmla="val 8000"/>
            </a:avLst>
          </a:prstGeom>
          <a:solidFill>
            <a:srgbClr val="1C2027"/>
          </a:solidFill>
          <a:ln w="12700">
            <a:solidFill>
              <a:srgbClr val="FFB74D"/>
            </a:solidFill>
          </a:ln>
        </p:spPr>
        <p:txBody>
          <a:bodyPr lIns="152400" tIns="127000" rIns="152400" bIns="127000" anchor="ctr">
            <a:normAutofit/>
          </a:bodyPr>
          <a:lstStyle/>
          <a:p>
            <a:pPr algn="l">
              <a:buNone/>
            </a:pPr>
            <a:r>
              <a:rPr lang="en-US" sz="1700" b="1" dirty="0">
                <a:solidFill>
                  <a:srgbClr val="FFB74D"/>
                </a:solidFill>
              </a:rPr>
              <a:t>No brief.md</a:t>
            </a:r>
          </a:p>
          <a:p>
            <a:pPr algn="l">
              <a:spcBef>
                <a:spcPts val="400"/>
              </a:spcBef>
              <a:buNone/>
            </a:pPr>
            <a:r>
              <a:rPr lang="en-US" sz="1400" dirty="0">
                <a:solidFill>
                  <a:srgbClr val="AAB2BC"/>
                </a:solidFill>
              </a:rPr>
              <a:t>nothing on disk for this project yet</a:t>
            </a:r>
          </a:p>
        </p:txBody>
      </p:sp>
      <p:sp>
        <p:nvSpPr>
          <p:cNvPr id="205" name="B"/>
          <p:cNvSpPr/>
          <p:nvPr/>
        </p:nvSpPr>
        <p:spPr>
          <a:xfrm>
            <a:off x="3517900" y="3962400"/>
            <a:ext cx="2476500" cy="1422400"/>
          </a:xfrm>
          <a:prstGeom prst="roundRect">
            <a:avLst>
              <a:gd name="adj" fmla="val 8000"/>
            </a:avLst>
          </a:prstGeom>
          <a:solidFill>
            <a:srgbClr val="1C2027"/>
          </a:solidFill>
          <a:ln w="12700">
            <a:solidFill>
              <a:srgbClr val="2E343D"/>
            </a:solidFill>
          </a:ln>
        </p:spPr>
        <p:txBody>
          <a:bodyPr lIns="152400" tIns="127000" rIns="152400" bIns="127000" anchor="ctr">
            <a:normAutofit/>
          </a:bodyPr>
          <a:lstStyle/>
          <a:p>
            <a:pPr algn="l">
              <a:buNone/>
            </a:pPr>
            <a:r>
              <a:rPr lang="en-US" sz="1700" b="1" dirty="0">
                <a:solidFill>
                  <a:srgbClr val="FFFFFF"/>
                </a:solidFill>
              </a:rPr>
              <a:t>Offer the template</a:t>
            </a:r>
          </a:p>
          <a:p>
            <a:pPr algn="l">
              <a:spcBef>
                <a:spcPts val="400"/>
              </a:spcBef>
              <a:buNone/>
            </a:pPr>
            <a:r>
              <a:rPr lang="en-US" sz="1400" dirty="0">
                <a:solidFill>
                  <a:srgbClr val="AAB2BC"/>
                </a:solidFill>
              </a:rPr>
              <a:t>scaffold from 01-brief/brief-template.md</a:t>
            </a:r>
          </a:p>
        </p:txBody>
      </p:sp>
      <p:sp>
        <p:nvSpPr>
          <p:cNvPr id="206" name="B"/>
          <p:cNvSpPr/>
          <p:nvPr/>
        </p:nvSpPr>
        <p:spPr>
          <a:xfrm>
            <a:off x="6197600" y="3962400"/>
            <a:ext cx="2476500" cy="1422400"/>
          </a:xfrm>
          <a:prstGeom prst="roundRect">
            <a:avLst>
              <a:gd name="adj" fmla="val 8000"/>
            </a:avLst>
          </a:prstGeom>
          <a:solidFill>
            <a:srgbClr val="1C2027"/>
          </a:solidFill>
          <a:ln w="12700">
            <a:solidFill>
              <a:srgbClr val="2E343D"/>
            </a:solidFill>
          </a:ln>
        </p:spPr>
        <p:txBody>
          <a:bodyPr lIns="152400" tIns="127000" rIns="152400" bIns="127000" anchor="ctr">
            <a:normAutofit/>
          </a:bodyPr>
          <a:lstStyle/>
          <a:p>
            <a:pPr algn="l">
              <a:buNone/>
            </a:pPr>
            <a:r>
              <a:rPr lang="en-US" sz="1700" b="1" dirty="0">
                <a:solidFill>
                  <a:srgbClr val="FFFFFF"/>
                </a:solidFill>
              </a:rPr>
              <a:t>User fills it in</a:t>
            </a:r>
          </a:p>
          <a:p>
            <a:pPr algn="l">
              <a:spcBef>
                <a:spcPts val="400"/>
              </a:spcBef>
              <a:buNone/>
            </a:pPr>
            <a:r>
              <a:rPr lang="en-US" sz="1400" dirty="0">
                <a:solidFill>
                  <a:srgbClr val="AAB2BC"/>
                </a:solidFill>
              </a:rPr>
              <a:t>the brief persists; the conversation does not</a:t>
            </a:r>
          </a:p>
        </p:txBody>
      </p:sp>
      <p:sp>
        <p:nvSpPr>
          <p:cNvPr id="207" name="Ar"/>
          <p:cNvSpPr/>
          <p:nvPr/>
        </p:nvSpPr>
        <p:spPr>
          <a:xfrm rot="5400000">
            <a:off x="3289300" y="2667000"/>
            <a:ext cx="254000" cy="254000"/>
          </a:xfrm>
          <a:prstGeom prst="triangle">
            <a:avLst/>
          </a:prstGeom>
          <a:solidFill>
            <a:srgbClr val="4A525C"/>
          </a:solidFill>
          <a:ln>
            <a:noFill/>
          </a:ln>
        </p:spPr>
        <p:txBody>
          <a:bodyPr/>
          <a:lstStyle/>
          <a:p>
            <a:endParaRPr/>
          </a:p>
        </p:txBody>
      </p:sp>
      <p:sp>
        <p:nvSpPr>
          <p:cNvPr id="208" name="Ar"/>
          <p:cNvSpPr/>
          <p:nvPr/>
        </p:nvSpPr>
        <p:spPr>
          <a:xfrm rot="5400000">
            <a:off x="5969000" y="2667000"/>
            <a:ext cx="254000" cy="254000"/>
          </a:xfrm>
          <a:prstGeom prst="triangle">
            <a:avLst/>
          </a:prstGeom>
          <a:solidFill>
            <a:srgbClr val="4A525C"/>
          </a:solidFill>
          <a:ln>
            <a:noFill/>
          </a:ln>
        </p:spPr>
        <p:txBody>
          <a:bodyPr/>
          <a:lstStyle/>
          <a:p>
            <a:endParaRPr/>
          </a:p>
        </p:txBody>
      </p:sp>
      <p:sp>
        <p:nvSpPr>
          <p:cNvPr id="209" name="Ar"/>
          <p:cNvSpPr/>
          <p:nvPr/>
        </p:nvSpPr>
        <p:spPr>
          <a:xfrm rot="5400000">
            <a:off x="8648700" y="2667000"/>
            <a:ext cx="254000" cy="254000"/>
          </a:xfrm>
          <a:prstGeom prst="triangle">
            <a:avLst/>
          </a:prstGeom>
          <a:solidFill>
            <a:srgbClr val="4A525C"/>
          </a:solidFill>
          <a:ln>
            <a:noFill/>
          </a:ln>
        </p:spPr>
        <p:txBody>
          <a:bodyPr/>
          <a:lstStyle/>
          <a:p>
            <a:endParaRPr/>
          </a:p>
        </p:txBody>
      </p:sp>
      <p:sp>
        <p:nvSpPr>
          <p:cNvPr id="210" name="Ar"/>
          <p:cNvSpPr/>
          <p:nvPr/>
        </p:nvSpPr>
        <p:spPr>
          <a:xfrm rot="5400000">
            <a:off x="3289300" y="4546600"/>
            <a:ext cx="254000" cy="254000"/>
          </a:xfrm>
          <a:prstGeom prst="triangle">
            <a:avLst/>
          </a:prstGeom>
          <a:solidFill>
            <a:srgbClr val="4A525C"/>
          </a:solidFill>
          <a:ln>
            <a:noFill/>
          </a:ln>
        </p:spPr>
        <p:txBody>
          <a:bodyPr/>
          <a:lstStyle/>
          <a:p>
            <a:endParaRPr/>
          </a:p>
        </p:txBody>
      </p:sp>
      <p:sp>
        <p:nvSpPr>
          <p:cNvPr id="211" name="Ar"/>
          <p:cNvSpPr/>
          <p:nvPr/>
        </p:nvSpPr>
        <p:spPr>
          <a:xfrm rot="5400000">
            <a:off x="5969000" y="4546600"/>
            <a:ext cx="254000" cy="254000"/>
          </a:xfrm>
          <a:prstGeom prst="triangle">
            <a:avLst/>
          </a:prstGeom>
          <a:solidFill>
            <a:srgbClr val="4A525C"/>
          </a:solidFill>
          <a:ln>
            <a:noFill/>
          </a:ln>
        </p:spPr>
        <p:txBody>
          <a:bodyPr/>
          <a:lstStyle/>
          <a:p>
            <a:endParaRPr/>
          </a:p>
        </p:txBody>
      </p:sp>
      <p:sp>
        <p:nvSpPr>
          <p:cNvPr id="212" name="Ar"/>
          <p:cNvSpPr/>
          <p:nvPr/>
        </p:nvSpPr>
        <p:spPr>
          <a:xfrm rot="5400000">
            <a:off x="8648700" y="4546600"/>
            <a:ext cx="254000" cy="254000"/>
          </a:xfrm>
          <a:prstGeom prst="triangle">
            <a:avLst/>
          </a:prstGeom>
          <a:solidFill>
            <a:srgbClr val="4A525C"/>
          </a:solidFill>
          <a:ln>
            <a:noFill/>
          </a:ln>
        </p:spPr>
        <p:txBody>
          <a:bodyPr/>
          <a:lstStyle/>
          <a:p>
            <a:endParaRPr/>
          </a:p>
        </p:txBody>
      </p:sp>
      <p:sp>
        <p:nvSpPr>
          <p:cNvPr id="213" name="Strip"/>
          <p:cNvSpPr/>
          <p:nvPr/>
        </p:nvSpPr>
        <p:spPr>
          <a:xfrm>
            <a:off x="838200" y="5537200"/>
            <a:ext cx="10515600" cy="736600"/>
          </a:xfrm>
          <a:prstGeom prst="roundRect">
            <a:avLst>
              <a:gd name="adj" fmla="val 14000"/>
            </a:avLst>
          </a:prstGeom>
          <a:solidFill>
            <a:srgbClr val="20242B"/>
          </a:solidFill>
          <a:ln>
            <a:noFill/>
          </a:ln>
        </p:spPr>
        <p:txBody>
          <a:bodyPr lIns="228600" rIns="228600" anchor="ctr"/>
          <a:lstStyle/>
          <a:p>
            <a:pPr algn="l">
              <a:buNone/>
            </a:pPr>
            <a:r>
              <a:rPr lang="en-US" sz="1600" b="1" dirty="0">
                <a:solidFill>
                  <a:srgbClr val="66BB6A"/>
                </a:solidFill>
              </a:rPr>
              <a:t>The brief is the contract: </a:t>
            </a:r>
            <a:r>
              <a:rPr lang="en-US" sz="1600" dirty="0">
                <a:solidFill>
                  <a:srgbClr val="D6DAE0"/>
                </a:solidFill>
              </a:rPr>
              <a:t>a comprehensive brief means zero discovery questions. Themes follow the same pattern.</a:t>
            </a:r>
          </a:p>
        </p:txBody>
      </p:sp>
      <p:sp>
        <p:nvSpPr>
          <p:cNvPr id="214" name="B"/>
          <p:cNvSpPr/>
          <p:nvPr/>
        </p:nvSpPr>
        <p:spPr>
          <a:xfrm>
            <a:off x="8877300" y="3962400"/>
            <a:ext cx="2476500" cy="1422400"/>
          </a:xfrm>
          <a:prstGeom prst="roundRect">
            <a:avLst>
              <a:gd name="adj" fmla="val 8000"/>
            </a:avLst>
          </a:prstGeom>
          <a:solidFill>
            <a:srgbClr val="1C2027"/>
          </a:solidFill>
          <a:ln w="12700">
            <a:solidFill>
              <a:srgbClr val="4FC3F7"/>
            </a:solidFill>
          </a:ln>
        </p:spPr>
        <p:txBody>
          <a:bodyPr lIns="152400" tIns="127000" rIns="152400" bIns="127000" anchor="ctr">
            <a:normAutofit/>
          </a:bodyPr>
          <a:lstStyle/>
          <a:p>
            <a:pPr algn="l">
              <a:buNone/>
            </a:pPr>
            <a:r>
              <a:rPr lang="en-US" sz="1700" b="1" dirty="0">
                <a:solidFill>
                  <a:srgbClr val="4FC3F7"/>
                </a:solidFill>
              </a:rPr>
              <a:t>Rejoins the flow</a:t>
            </a:r>
          </a:p>
          <a:p>
            <a:pPr algn="l">
              <a:spcBef>
                <a:spcPts val="400"/>
              </a:spcBef>
              <a:buNone/>
            </a:pPr>
            <a:r>
              <a:rPr lang="en-US" sz="1400" dirty="0">
                <a:solidFill>
                  <a:srgbClr val="AAB2BC"/>
                </a:solidFill>
              </a:rPr>
              <a:t>the filled brief feeds the same plan step above</a:t>
            </a:r>
          </a:p>
        </p:txBody>
      </p:sp>
      <p:sp>
        <p:nvSpPr>
          <p:cNvPr id="220" name="Lbl"/>
          <p:cNvSpPr/>
          <p:nvPr/>
        </p:nvSpPr>
        <p:spPr>
          <a:xfrm>
            <a:off x="838200" y="1778000"/>
            <a:ext cx="10515600" cy="254000"/>
          </a:xfrm>
          <a:prstGeom prst="rect">
            <a:avLst/>
          </a:prstGeom>
          <a:noFill/>
          <a:ln>
            <a:noFill/>
          </a:ln>
        </p:spPr>
        <p:txBody>
          <a:bodyPr lIns="0" tIns="0" rIns="0" bIns="0" anchor="ctr">
            <a:noAutofit/>
          </a:bodyPr>
          <a:lstStyle/>
          <a:p>
            <a:pPr algn="l">
              <a:buNone/>
            </a:pPr>
            <a:r>
              <a:rPr lang="en-US" sz="1400" b="1" dirty="0">
                <a:solidFill>
                  <a:srgbClr val="66BB6A"/>
                </a:solidFill>
              </a:rPr>
              <a:t>PATH A · the brief is already on disk</a:t>
            </a:r>
          </a:p>
        </p:txBody>
      </p:sp>
      <p:sp>
        <p:nvSpPr>
          <p:cNvPr id="221" name="Lbl"/>
          <p:cNvSpPr/>
          <p:nvPr/>
        </p:nvSpPr>
        <p:spPr>
          <a:xfrm>
            <a:off x="838200" y="3657600"/>
            <a:ext cx="10515600" cy="254000"/>
          </a:xfrm>
          <a:prstGeom prst="rect">
            <a:avLst/>
          </a:prstGeom>
          <a:noFill/>
          <a:ln>
            <a:noFill/>
          </a:ln>
        </p:spPr>
        <p:txBody>
          <a:bodyPr lIns="0" tIns="0" rIns="0" bIns="0" anchor="ctr">
            <a:noAutofit/>
          </a:bodyPr>
          <a:lstStyle/>
          <a:p>
            <a:pPr algn="l">
              <a:buNone/>
            </a:pPr>
            <a:r>
              <a:rPr lang="en-US" sz="1400" b="1" dirty="0">
                <a:solidFill>
                  <a:srgbClr val="FFB74D"/>
                </a:solidFill>
              </a:rPr>
              <a:t>PATH B · no brief yet — scaffold one first</a:t>
            </a:r>
          </a:p>
        </p:txBody>
      </p:sp>
    </p:spTree>
    <p:extLst>
      <p:ext uri="{BB962C8B-B14F-4D97-AF65-F5344CB8AC3E}">
        <p14:creationId xmlns:p14="http://schemas.microsoft.com/office/powerpoint/2010/main" val="20489793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CF486-82F5-4656-D6D0-F5E43D26B8DB}"/>
              </a:ext>
            </a:extLst>
          </p:cNvPr>
          <p:cNvSpPr>
            <a:spLocks noGrp="1"/>
          </p:cNvSpPr>
          <p:nvPr>
            <p:ph type="title"/>
          </p:nvPr>
        </p:nvSpPr>
        <p:spPr/>
        <p:txBody>
          <a:bodyPr/>
          <a:lstStyle/>
          <a:p>
            <a:r>
              <a:rPr lang="en-US" dirty="0"/>
              <a:t>3 — Claude notices briefs you edited in your IDE</a:t>
            </a:r>
          </a:p>
        </p:txBody>
      </p:sp>
      <p:sp>
        <p:nvSpPr>
          <p:cNvPr id="300" name="S"/>
          <p:cNvSpPr/>
          <p:nvPr/>
        </p:nvSpPr>
        <p:spPr>
          <a:xfrm>
            <a:off x="838200" y="2133600"/>
            <a:ext cx="2476500" cy="1778000"/>
          </a:xfrm>
          <a:prstGeom prst="roundRect">
            <a:avLst>
              <a:gd name="adj" fmla="val 8000"/>
            </a:avLst>
          </a:prstGeom>
          <a:solidFill>
            <a:srgbClr val="1C2027"/>
          </a:solidFill>
          <a:ln w="12700">
            <a:solidFill>
              <a:srgbClr val="78909C"/>
            </a:solidFill>
          </a:ln>
        </p:spPr>
        <p:txBody>
          <a:bodyPr lIns="152400" tIns="152400" rIns="152400" bIns="152400" anchor="t">
            <a:normAutofit/>
          </a:bodyPr>
          <a:lstStyle/>
          <a:p>
            <a:pPr algn="l">
              <a:buNone/>
            </a:pPr>
            <a:r>
              <a:rPr lang="en-US" sz="1500" b="1" dirty="0">
                <a:solidFill>
                  <a:srgbClr val="78909C"/>
                </a:solidFill>
                <a:latin typeface="Consolas"/>
              </a:rPr>
              <a:t>Any prompt</a:t>
            </a:r>
          </a:p>
          <a:p>
            <a:pPr algn="l">
              <a:spcBef>
                <a:spcPts val="600"/>
              </a:spcBef>
              <a:buNone/>
            </a:pPr>
            <a:r>
              <a:rPr lang="en-US" sz="1400" dirty="0">
                <a:solidFill>
                  <a:srgbClr val="AAB2BC"/>
                </a:solidFill>
              </a:rPr>
              <a:t>the user types anything at all — the hook runs before Claude sees it</a:t>
            </a:r>
          </a:p>
        </p:txBody>
      </p:sp>
      <p:sp>
        <p:nvSpPr>
          <p:cNvPr id="301" name="Ar"/>
          <p:cNvSpPr/>
          <p:nvPr/>
        </p:nvSpPr>
        <p:spPr>
          <a:xfrm rot="5400000">
            <a:off x="3289300" y="2895600"/>
            <a:ext cx="254000" cy="254000"/>
          </a:xfrm>
          <a:prstGeom prst="triangle">
            <a:avLst/>
          </a:prstGeom>
          <a:solidFill>
            <a:srgbClr val="4A525C"/>
          </a:solidFill>
          <a:ln>
            <a:noFill/>
          </a:ln>
        </p:spPr>
        <p:txBody>
          <a:bodyPr/>
          <a:lstStyle/>
          <a:p>
            <a:endParaRPr/>
          </a:p>
        </p:txBody>
      </p:sp>
      <p:sp>
        <p:nvSpPr>
          <p:cNvPr id="302" name="S"/>
          <p:cNvSpPr/>
          <p:nvPr/>
        </p:nvSpPr>
        <p:spPr>
          <a:xfrm>
            <a:off x="3517900" y="2133600"/>
            <a:ext cx="2476500" cy="1778000"/>
          </a:xfrm>
          <a:prstGeom prst="roundRect">
            <a:avLst>
              <a:gd name="adj" fmla="val 8000"/>
            </a:avLst>
          </a:prstGeom>
          <a:solidFill>
            <a:srgbClr val="1C2027"/>
          </a:solidFill>
          <a:ln w="12700">
            <a:solidFill>
              <a:srgbClr val="4FC3F7"/>
            </a:solidFill>
          </a:ln>
        </p:spPr>
        <p:txBody>
          <a:bodyPr lIns="152400" tIns="152400" rIns="152400" bIns="152400" anchor="t">
            <a:normAutofit/>
          </a:bodyPr>
          <a:lstStyle/>
          <a:p>
            <a:pPr algn="l">
              <a:buNone/>
            </a:pPr>
            <a:r>
              <a:rPr lang="en-US" sz="1500" b="1" dirty="0">
                <a:solidFill>
                  <a:srgbClr val="4FC3F7"/>
                </a:solidFill>
                <a:latin typeface="Consolas"/>
              </a:rPr>
              <a:t>discover-briefs.sh</a:t>
            </a:r>
          </a:p>
          <a:p>
            <a:pPr algn="l">
              <a:spcBef>
                <a:spcPts val="600"/>
              </a:spcBef>
              <a:buNone/>
            </a:pPr>
            <a:r>
              <a:rPr lang="en-US" sz="1400" dirty="0">
                <a:solidFill>
                  <a:srgbClr val="AAB2BC"/>
                </a:solidFill>
              </a:rPr>
              <a:t>a UserPromptSubmit hook, registered in .claude/settings.json</a:t>
            </a:r>
          </a:p>
        </p:txBody>
      </p:sp>
      <p:sp>
        <p:nvSpPr>
          <p:cNvPr id="303" name="Ar"/>
          <p:cNvSpPr/>
          <p:nvPr/>
        </p:nvSpPr>
        <p:spPr>
          <a:xfrm rot="5400000">
            <a:off x="5969000" y="2895600"/>
            <a:ext cx="254000" cy="254000"/>
          </a:xfrm>
          <a:prstGeom prst="triangle">
            <a:avLst/>
          </a:prstGeom>
          <a:solidFill>
            <a:srgbClr val="4A525C"/>
          </a:solidFill>
          <a:ln>
            <a:noFill/>
          </a:ln>
        </p:spPr>
        <p:txBody>
          <a:bodyPr/>
          <a:lstStyle/>
          <a:p>
            <a:endParaRPr/>
          </a:p>
        </p:txBody>
      </p:sp>
      <p:sp>
        <p:nvSpPr>
          <p:cNvPr id="304" name="S"/>
          <p:cNvSpPr/>
          <p:nvPr/>
        </p:nvSpPr>
        <p:spPr>
          <a:xfrm>
            <a:off x="6197600" y="2133600"/>
            <a:ext cx="2476500" cy="1778000"/>
          </a:xfrm>
          <a:prstGeom prst="roundRect">
            <a:avLst>
              <a:gd name="adj" fmla="val 8000"/>
            </a:avLst>
          </a:prstGeom>
          <a:solidFill>
            <a:srgbClr val="1C2027"/>
          </a:solidFill>
          <a:ln w="12700">
            <a:solidFill>
              <a:srgbClr val="FFB74D"/>
            </a:solidFill>
          </a:ln>
        </p:spPr>
        <p:txBody>
          <a:bodyPr lIns="152400" tIns="152400" rIns="152400" bIns="152400" anchor="t">
            <a:normAutofit/>
          </a:bodyPr>
          <a:lstStyle/>
          <a:p>
            <a:pPr algn="l">
              <a:buNone/>
            </a:pPr>
            <a:r>
              <a:rPr lang="en-US" sz="1500" b="1" dirty="0">
                <a:solidFill>
                  <a:srgbClr val="FFB74D"/>
                </a:solidFill>
                <a:latin typeface="Consolas"/>
              </a:rPr>
              <a:t>Scan the tree</a:t>
            </a:r>
          </a:p>
          <a:p>
            <a:pPr algn="l">
              <a:spcBef>
                <a:spcPts val="600"/>
              </a:spcBef>
              <a:buNone/>
            </a:pPr>
            <a:r>
              <a:rPr lang="en-US" sz="1400" dirty="0">
                <a:solidFill>
                  <a:srgbClr val="AAB2BC"/>
                </a:solidFill>
              </a:rPr>
              <a:t>projects/**/brief.md, anything modified in the last 60 minutes</a:t>
            </a:r>
          </a:p>
        </p:txBody>
      </p:sp>
      <p:sp>
        <p:nvSpPr>
          <p:cNvPr id="305" name="Ar"/>
          <p:cNvSpPr/>
          <p:nvPr/>
        </p:nvSpPr>
        <p:spPr>
          <a:xfrm rot="5400000">
            <a:off x="8648700" y="2895600"/>
            <a:ext cx="254000" cy="254000"/>
          </a:xfrm>
          <a:prstGeom prst="triangle">
            <a:avLst/>
          </a:prstGeom>
          <a:solidFill>
            <a:srgbClr val="4A525C"/>
          </a:solidFill>
          <a:ln>
            <a:noFill/>
          </a:ln>
        </p:spPr>
        <p:txBody>
          <a:bodyPr/>
          <a:lstStyle/>
          <a:p>
            <a:endParaRPr/>
          </a:p>
        </p:txBody>
      </p:sp>
      <p:sp>
        <p:nvSpPr>
          <p:cNvPr id="306" name="S"/>
          <p:cNvSpPr/>
          <p:nvPr/>
        </p:nvSpPr>
        <p:spPr>
          <a:xfrm>
            <a:off x="8877300" y="2133600"/>
            <a:ext cx="2476500" cy="1778000"/>
          </a:xfrm>
          <a:prstGeom prst="roundRect">
            <a:avLst>
              <a:gd name="adj" fmla="val 8000"/>
            </a:avLst>
          </a:prstGeom>
          <a:solidFill>
            <a:srgbClr val="1C2027"/>
          </a:solidFill>
          <a:ln w="12700">
            <a:solidFill>
              <a:srgbClr val="66BB6A"/>
            </a:solidFill>
          </a:ln>
        </p:spPr>
        <p:txBody>
          <a:bodyPr lIns="152400" tIns="152400" rIns="152400" bIns="152400" anchor="t">
            <a:normAutofit/>
          </a:bodyPr>
          <a:lstStyle/>
          <a:p>
            <a:pPr algn="l">
              <a:buNone/>
            </a:pPr>
            <a:r>
              <a:rPr lang="en-US" sz="1500" b="1" dirty="0">
                <a:solidFill>
                  <a:srgbClr val="66BB6A"/>
                </a:solidFill>
                <a:latin typeface="Consolas"/>
              </a:rPr>
              <a:t>Emit &lt;recent-briefs&gt;</a:t>
            </a:r>
          </a:p>
          <a:p>
            <a:pPr algn="l">
              <a:spcBef>
                <a:spcPts val="600"/>
              </a:spcBef>
              <a:buNone/>
            </a:pPr>
            <a:r>
              <a:rPr lang="en-US" sz="1400" dirty="0">
                <a:solidFill>
                  <a:srgbClr val="AAB2BC"/>
                </a:solidFill>
              </a:rPr>
              <a:t>flagged briefs land in context before any plan is proposed</a:t>
            </a:r>
          </a:p>
        </p:txBody>
      </p:sp>
      <p:sp>
        <p:nvSpPr>
          <p:cNvPr id="307" name="O"/>
          <p:cNvSpPr/>
          <p:nvPr/>
        </p:nvSpPr>
        <p:spPr>
          <a:xfrm>
            <a:off x="838200" y="4191000"/>
            <a:ext cx="5156200" cy="965200"/>
          </a:xfrm>
          <a:prstGeom prst="roundRect">
            <a:avLst>
              <a:gd name="adj" fmla="val 10000"/>
            </a:avLst>
          </a:prstGeom>
          <a:solidFill>
            <a:srgbClr val="20242B"/>
          </a:solidFill>
          <a:ln>
            <a:noFill/>
          </a:ln>
        </p:spPr>
        <p:txBody>
          <a:bodyPr lIns="190500" tIns="114300" rIns="190500" bIns="114300" anchor="ctr">
            <a:normAutofit/>
          </a:bodyPr>
          <a:lstStyle/>
          <a:p>
            <a:pPr algn="l">
              <a:buNone/>
            </a:pPr>
            <a:r>
              <a:rPr lang="en-US" sz="1600" b="1" dirty="0">
                <a:solidFill>
                  <a:srgbClr val="66BB6A"/>
                </a:solidFill>
              </a:rPr>
              <a:t>Match found — </a:t>
            </a:r>
            <a:r>
              <a:rPr lang="en-US" sz="1500" dirty="0">
                <a:solidFill>
                  <a:srgbClr val="C3C9D1"/>
                </a:solidFill>
              </a:rPr>
              <a:t>the &lt;recent-briefs&gt; block is injected — Claude reads those files first</a:t>
            </a:r>
          </a:p>
        </p:txBody>
      </p:sp>
      <p:sp>
        <p:nvSpPr>
          <p:cNvPr id="308" name="O"/>
          <p:cNvSpPr/>
          <p:nvPr/>
        </p:nvSpPr>
        <p:spPr>
          <a:xfrm>
            <a:off x="6197600" y="4191000"/>
            <a:ext cx="5156200" cy="965200"/>
          </a:xfrm>
          <a:prstGeom prst="roundRect">
            <a:avLst>
              <a:gd name="adj" fmla="val 10000"/>
            </a:avLst>
          </a:prstGeom>
          <a:solidFill>
            <a:srgbClr val="20242B"/>
          </a:solidFill>
          <a:ln>
            <a:noFill/>
          </a:ln>
        </p:spPr>
        <p:txBody>
          <a:bodyPr lIns="190500" tIns="114300" rIns="190500" bIns="114300" anchor="ctr">
            <a:normAutofit/>
          </a:bodyPr>
          <a:lstStyle/>
          <a:p>
            <a:pPr algn="l">
              <a:buNone/>
            </a:pPr>
            <a:r>
              <a:rPr lang="en-US" sz="1600" b="1" dirty="0">
                <a:solidFill>
                  <a:srgbClr val="78909C"/>
                </a:solidFill>
              </a:rPr>
              <a:t>No match — </a:t>
            </a:r>
            <a:r>
              <a:rPr lang="en-US" sz="1500" dirty="0">
                <a:solidFill>
                  <a:srgbClr val="C3C9D1"/>
                </a:solidFill>
              </a:rPr>
              <a:t>exit 0, no output, no noise added to the turn</a:t>
            </a:r>
          </a:p>
        </p:txBody>
      </p:sp>
      <p:sp>
        <p:nvSpPr>
          <p:cNvPr id="309" name="Note"/>
          <p:cNvSpPr/>
          <p:nvPr/>
        </p:nvSpPr>
        <p:spPr>
          <a:xfrm>
            <a:off x="838200" y="5435600"/>
            <a:ext cx="10515600" cy="736600"/>
          </a:xfrm>
          <a:prstGeom prst="roundRect">
            <a:avLst>
              <a:gd name="adj" fmla="val 14000"/>
            </a:avLst>
          </a:prstGeom>
          <a:solidFill>
            <a:srgbClr val="1A1D23"/>
          </a:solidFill>
          <a:ln w="12700">
            <a:solidFill>
              <a:srgbClr val="2E343D"/>
            </a:solidFill>
          </a:ln>
        </p:spPr>
        <p:txBody>
          <a:bodyPr lIns="228600" rIns="228600" anchor="ctr"/>
          <a:lstStyle/>
          <a:p>
            <a:pPr algn="l">
              <a:buNone/>
            </a:pPr>
            <a:r>
              <a:rPr lang="en-US" sz="1500" dirty="0">
                <a:solidFill>
                  <a:srgbClr val="C3C9D1"/>
                </a:solidFill>
              </a:rPr>
              <a:t>Toggle it off any time: </a:t>
            </a:r>
            <a:r>
              <a:rPr lang="en-US" sz="1500" b="1" dirty="0">
                <a:solidFill>
                  <a:srgbClr val="4FC3F7"/>
                </a:solidFill>
                <a:latin typeface="Consolas"/>
              </a:rPr>
              <a:t>power-bi/hooks.yaml → briefs: false</a:t>
            </a:r>
            <a:r>
              <a:rPr lang="en-US" sz="1500" dirty="0">
                <a:solidFill>
                  <a:srgbClr val="C3C9D1"/>
                </a:solidFill>
              </a:rPr>
              <a:t>. The routing still works without it — hooks are accelerators, not dependencies.</a:t>
            </a:r>
          </a:p>
        </p:txBody>
      </p:sp>
    </p:spTree>
    <p:extLst>
      <p:ext uri="{BB962C8B-B14F-4D97-AF65-F5344CB8AC3E}">
        <p14:creationId xmlns:p14="http://schemas.microsoft.com/office/powerpoint/2010/main" val="577724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836F6-7077-F1E3-B374-AE376E94ACAC}"/>
              </a:ext>
            </a:extLst>
          </p:cNvPr>
          <p:cNvSpPr>
            <a:spLocks noGrp="1"/>
          </p:cNvSpPr>
          <p:nvPr>
            <p:ph type="title"/>
          </p:nvPr>
        </p:nvSpPr>
        <p:spPr/>
        <p:txBody>
          <a:bodyPr/>
          <a:lstStyle/>
          <a:p>
            <a:r>
              <a:rPr lang="en-US" dirty="0"/>
              <a:t>4 — Cheap and local first, remote last</a:t>
            </a:r>
          </a:p>
        </p:txBody>
      </p:sp>
      <p:sp>
        <p:nvSpPr>
          <p:cNvPr id="400" name="Chip"/>
          <p:cNvSpPr/>
          <p:nvPr/>
        </p:nvSpPr>
        <p:spPr>
          <a:xfrm>
            <a:off x="838200" y="2032000"/>
            <a:ext cx="1320800" cy="1270000"/>
          </a:xfrm>
          <a:prstGeom prst="roundRect">
            <a:avLst>
              <a:gd name="adj" fmla="val 10000"/>
            </a:avLst>
          </a:prstGeom>
          <a:solidFill>
            <a:srgbClr val="66BB6A"/>
          </a:solidFill>
          <a:ln>
            <a:noFill/>
          </a:ln>
        </p:spPr>
        <p:txBody>
          <a:bodyPr lIns="0" tIns="0" rIns="0" bIns="0" anchor="ctr">
            <a:noAutofit/>
          </a:bodyPr>
          <a:lstStyle/>
          <a:p>
            <a:pPr algn="ctr">
              <a:buNone/>
            </a:pPr>
            <a:r>
              <a:rPr lang="en-US" sz="1600" b="1" dirty="0">
                <a:solidFill>
                  <a:srgbClr val="14161A"/>
                </a:solidFill>
              </a:rPr>
              <a:t>TIER 1</a:t>
            </a:r>
          </a:p>
        </p:txBody>
      </p:sp>
      <p:sp>
        <p:nvSpPr>
          <p:cNvPr id="401" name="Body"/>
          <p:cNvSpPr/>
          <p:nvPr/>
        </p:nvSpPr>
        <p:spPr>
          <a:xfrm>
            <a:off x="2286000" y="2032000"/>
            <a:ext cx="9067800" cy="1270000"/>
          </a:xfrm>
          <a:prstGeom prst="roundRect">
            <a:avLst>
              <a:gd name="adj" fmla="val 10000"/>
            </a:avLst>
          </a:prstGeom>
          <a:solidFill>
            <a:srgbClr val="1C2027"/>
          </a:solidFill>
          <a:ln>
            <a:noFill/>
          </a:ln>
        </p:spPr>
        <p:txBody>
          <a:bodyPr lIns="228600" tIns="139700" rIns="228600" bIns="139700" anchor="ctr">
            <a:normAutofit/>
          </a:bodyPr>
          <a:lstStyle/>
          <a:p>
            <a:pPr algn="l">
              <a:buNone/>
            </a:pPr>
            <a:r>
              <a:rPr lang="en-US" sz="1900" b="1" dirty="0">
                <a:solidFill>
                  <a:srgbClr val="FFFFFF"/>
                </a:solidFill>
              </a:rPr>
              <a:t>On-disk TMDL</a:t>
            </a:r>
            <a:r>
              <a:rPr lang="en-US" sz="1500" dirty="0">
                <a:solidFill>
                  <a:srgbClr val="66BB6A"/>
                </a:solidFill>
                <a:latin typeface="Consolas"/>
              </a:rPr>
              <a:t>    pbir model -d</a:t>
            </a:r>
          </a:p>
          <a:p>
            <a:pPr algn="l">
              <a:spcBef>
                <a:spcPts val="400"/>
              </a:spcBef>
              <a:buNone/>
            </a:pPr>
            <a:r>
              <a:rPr lang="en-US" sz="1500" dirty="0">
                <a:solidFill>
                  <a:srgbClr val="AAB2BC"/>
                </a:solidFill>
              </a:rPr>
              <a:t>No connection, no cost. Wins for “what measures exist?” on a thick PBIP project.</a:t>
            </a:r>
          </a:p>
        </p:txBody>
      </p:sp>
      <p:sp>
        <p:nvSpPr>
          <p:cNvPr id="402" name="Chip"/>
          <p:cNvSpPr/>
          <p:nvPr/>
        </p:nvSpPr>
        <p:spPr>
          <a:xfrm>
            <a:off x="838200" y="3454400"/>
            <a:ext cx="1320800" cy="1270000"/>
          </a:xfrm>
          <a:prstGeom prst="roundRect">
            <a:avLst>
              <a:gd name="adj" fmla="val 10000"/>
            </a:avLst>
          </a:prstGeom>
          <a:solidFill>
            <a:srgbClr val="4FC3F7"/>
          </a:solidFill>
          <a:ln>
            <a:noFill/>
          </a:ln>
        </p:spPr>
        <p:txBody>
          <a:bodyPr lIns="0" tIns="0" rIns="0" bIns="0" anchor="ctr">
            <a:noAutofit/>
          </a:bodyPr>
          <a:lstStyle/>
          <a:p>
            <a:pPr algn="ctr">
              <a:buNone/>
            </a:pPr>
            <a:r>
              <a:rPr lang="en-US" sz="1600" b="1" dirty="0">
                <a:solidFill>
                  <a:srgbClr val="14161A"/>
                </a:solidFill>
              </a:rPr>
              <a:t>TIER 2</a:t>
            </a:r>
          </a:p>
        </p:txBody>
      </p:sp>
      <p:sp>
        <p:nvSpPr>
          <p:cNvPr id="403" name="Body"/>
          <p:cNvSpPr/>
          <p:nvPr/>
        </p:nvSpPr>
        <p:spPr>
          <a:xfrm>
            <a:off x="2286000" y="3454400"/>
            <a:ext cx="9067800" cy="1270000"/>
          </a:xfrm>
          <a:prstGeom prst="roundRect">
            <a:avLst>
              <a:gd name="adj" fmla="val 10000"/>
            </a:avLst>
          </a:prstGeom>
          <a:solidFill>
            <a:srgbClr val="1C2027"/>
          </a:solidFill>
          <a:ln>
            <a:noFill/>
          </a:ln>
        </p:spPr>
        <p:txBody>
          <a:bodyPr lIns="228600" tIns="139700" rIns="228600" bIns="139700" anchor="ctr">
            <a:normAutofit/>
          </a:bodyPr>
          <a:lstStyle/>
          <a:p>
            <a:pPr algn="l">
              <a:buNone/>
            </a:pPr>
            <a:r>
              <a:rPr lang="en-US" sz="1900" b="1" dirty="0">
                <a:solidFill>
                  <a:srgbClr val="FFFFFF"/>
                </a:solidFill>
              </a:rPr>
              <a:t>Power BI MCP</a:t>
            </a:r>
            <a:r>
              <a:rPr lang="en-US" sz="1500" dirty="0">
                <a:solidFill>
                  <a:srgbClr val="4FC3F7"/>
                </a:solidFill>
                <a:latin typeface="Consolas"/>
              </a:rPr>
              <a:t>    03-bind/via-mcp/</a:t>
            </a:r>
          </a:p>
          <a:p>
            <a:pPr algn="l">
              <a:spcBef>
                <a:spcPts val="400"/>
              </a:spcBef>
              <a:buNone/>
            </a:pPr>
            <a:r>
              <a:rPr lang="en-US" sz="1500" dirty="0">
                <a:solidFill>
                  <a:srgbClr val="AAB2BC"/>
                </a:solidFill>
              </a:rPr>
              <a:t>Wins for live mutations and DAX queries — whenever the MCP is actually wired up.</a:t>
            </a:r>
          </a:p>
        </p:txBody>
      </p:sp>
      <p:sp>
        <p:nvSpPr>
          <p:cNvPr id="404" name="Chip"/>
          <p:cNvSpPr/>
          <p:nvPr/>
        </p:nvSpPr>
        <p:spPr>
          <a:xfrm>
            <a:off x="838200" y="4876800"/>
            <a:ext cx="1320800" cy="1270000"/>
          </a:xfrm>
          <a:prstGeom prst="roundRect">
            <a:avLst>
              <a:gd name="adj" fmla="val 10000"/>
            </a:avLst>
          </a:prstGeom>
          <a:solidFill>
            <a:srgbClr val="FFB74D"/>
          </a:solidFill>
          <a:ln>
            <a:noFill/>
          </a:ln>
        </p:spPr>
        <p:txBody>
          <a:bodyPr lIns="0" tIns="0" rIns="0" bIns="0" anchor="ctr">
            <a:noAutofit/>
          </a:bodyPr>
          <a:lstStyle/>
          <a:p>
            <a:pPr algn="ctr">
              <a:buNone/>
            </a:pPr>
            <a:r>
              <a:rPr lang="en-US" sz="1600" b="1" dirty="0">
                <a:solidFill>
                  <a:srgbClr val="14161A"/>
                </a:solidFill>
              </a:rPr>
              <a:t>TIER 3</a:t>
            </a:r>
          </a:p>
        </p:txBody>
      </p:sp>
      <p:sp>
        <p:nvSpPr>
          <p:cNvPr id="405" name="Body"/>
          <p:cNvSpPr/>
          <p:nvPr/>
        </p:nvSpPr>
        <p:spPr>
          <a:xfrm>
            <a:off x="2286000" y="4876800"/>
            <a:ext cx="9067800" cy="1270000"/>
          </a:xfrm>
          <a:prstGeom prst="roundRect">
            <a:avLst>
              <a:gd name="adj" fmla="val 10000"/>
            </a:avLst>
          </a:prstGeom>
          <a:solidFill>
            <a:srgbClr val="1C2027"/>
          </a:solidFill>
          <a:ln>
            <a:noFill/>
          </a:ln>
        </p:spPr>
        <p:txBody>
          <a:bodyPr lIns="228600" tIns="139700" rIns="228600" bIns="139700" anchor="ctr">
            <a:normAutofit/>
          </a:bodyPr>
          <a:lstStyle/>
          <a:p>
            <a:pPr algn="l">
              <a:buNone/>
            </a:pPr>
            <a:r>
              <a:rPr lang="en-US" sz="1900" b="1" dirty="0">
                <a:solidFill>
                  <a:srgbClr val="FFFFFF"/>
                </a:solidFill>
              </a:rPr>
              <a:t>PowerShell TOM / ADOMD</a:t>
            </a:r>
            <a:r>
              <a:rPr lang="en-US" sz="1500" dirty="0">
                <a:solidFill>
                  <a:srgbClr val="FFB74D"/>
                </a:solidFill>
                <a:latin typeface="Consolas"/>
              </a:rPr>
              <a:t>    via-powershell/quickstart.md + scripts/</a:t>
            </a:r>
          </a:p>
          <a:p>
            <a:pPr algn="l">
              <a:spcBef>
                <a:spcPts val="400"/>
              </a:spcBef>
              <a:buNone/>
            </a:pPr>
            <a:r>
              <a:rPr lang="en-US" sz="1500" dirty="0">
                <a:solidFill>
                  <a:srgbClr val="AAB2BC"/>
                </a:solidFill>
              </a:rPr>
              <a:t>Wins for what MCP rarely exposes: field parameters, query traces, daxlib packages, VertiPaq stats.</a:t>
            </a:r>
          </a:p>
        </p:txBody>
      </p:sp>
      <p:sp>
        <p:nvSpPr>
          <p:cNvPr id="406" name="Note"/>
          <p:cNvSpPr/>
          <p:nvPr/>
        </p:nvSpPr>
        <p:spPr>
          <a:xfrm>
            <a:off x="838200" y="6299200"/>
            <a:ext cx="10515600" cy="355600"/>
          </a:xfrm>
          <a:prstGeom prst="rect">
            <a:avLst/>
          </a:prstGeom>
          <a:noFill/>
          <a:ln>
            <a:noFill/>
          </a:ln>
        </p:spPr>
        <p:txBody>
          <a:bodyPr lIns="0" tIns="0" rIns="0" bIns="0" anchor="ctr"/>
          <a:lstStyle/>
          <a:p>
            <a:pPr algn="l">
              <a:buNone/>
            </a:pPr>
            <a:r>
              <a:rPr lang="en-US" sz="1400" i="1" dirty="0">
                <a:solidFill>
                  <a:srgbClr val="8A939E"/>
                </a:solidFill>
              </a:rPr>
              <a:t>Claude escalates only when the tier above genuinely cannot answer the question.</a:t>
            </a:r>
          </a:p>
        </p:txBody>
      </p:sp>
    </p:spTree>
    <p:extLst>
      <p:ext uri="{BB962C8B-B14F-4D97-AF65-F5344CB8AC3E}">
        <p14:creationId xmlns:p14="http://schemas.microsoft.com/office/powerpoint/2010/main" val="3526733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DC410-6669-E05B-1C77-935D336F5EB9}"/>
              </a:ext>
            </a:extLst>
          </p:cNvPr>
          <p:cNvSpPr>
            <a:spLocks noGrp="1"/>
          </p:cNvSpPr>
          <p:nvPr>
            <p:ph type="title"/>
          </p:nvPr>
        </p:nvSpPr>
        <p:spPr/>
        <p:txBody>
          <a:bodyPr/>
          <a:lstStyle/>
          <a:p>
            <a:r>
              <a:rPr lang="en-US" dirty="0"/>
              <a:t>5 — One workflow, seven atoms</a:t>
            </a:r>
          </a:p>
        </p:txBody>
      </p:sp>
      <p:sp>
        <p:nvSpPr>
          <p:cNvPr id="500" name="Pre"/>
          <p:cNvSpPr/>
          <p:nvPr/>
        </p:nvSpPr>
        <p:spPr>
          <a:xfrm>
            <a:off x="838200" y="1879600"/>
            <a:ext cx="10515600" cy="584200"/>
          </a:xfrm>
          <a:prstGeom prst="roundRect">
            <a:avLst>
              <a:gd name="adj" fmla="val 14000"/>
            </a:avLst>
          </a:prstGeom>
          <a:solidFill>
            <a:srgbClr val="20242B"/>
          </a:solidFill>
          <a:ln>
            <a:noFill/>
          </a:ln>
        </p:spPr>
        <p:txBody>
          <a:bodyPr lIns="228600" rIns="228600" anchor="ctr"/>
          <a:lstStyle/>
          <a:p>
            <a:pPr algn="l">
              <a:buNone/>
            </a:pPr>
            <a:r>
              <a:rPr lang="en-US" sz="1500" b="1" dirty="0">
                <a:solidFill>
                  <a:srgbClr val="66BB6A"/>
                </a:solidFill>
              </a:rPr>
              <a:t>Step 0 — </a:t>
            </a:r>
            <a:r>
              <a:rPr lang="en-US" sz="1500" dirty="0">
                <a:solidFill>
                  <a:srgbClr val="C3C9D1"/>
                </a:solidFill>
              </a:rPr>
              <a:t>if projects/themes/&lt;slug&gt;/brief.md exists, read it before anything else.</a:t>
            </a:r>
          </a:p>
        </p:txBody>
      </p:sp>
      <p:sp>
        <p:nvSpPr>
          <p:cNvPr id="501" name="St0"/>
          <p:cNvSpPr/>
          <p:nvPr/>
        </p:nvSpPr>
        <p:spPr>
          <a:xfrm>
            <a:off x="838200" y="2692400"/>
            <a:ext cx="1371600" cy="2387600"/>
          </a:xfrm>
          <a:prstGeom prst="roundRect">
            <a:avLst>
              <a:gd name="adj" fmla="val 8000"/>
            </a:avLst>
          </a:prstGeom>
          <a:solidFill>
            <a:srgbClr val="1C2027"/>
          </a:solidFill>
          <a:ln w="12700">
            <a:solidFill>
              <a:srgbClr val="4FC3F7"/>
            </a:solidFill>
          </a:ln>
        </p:spPr>
        <p:txBody>
          <a:bodyPr lIns="76200" tIns="152400" rIns="76200" bIns="152400" anchor="ctr">
            <a:normAutofit/>
          </a:bodyPr>
          <a:lstStyle/>
          <a:p>
            <a:pPr algn="ctr">
              <a:buNone/>
            </a:pPr>
            <a:r>
              <a:rPr lang="en-US" sz="3200" b="1" dirty="0">
                <a:solidFill>
                  <a:srgbClr val="4FC3F7"/>
                </a:solidFill>
              </a:rPr>
              <a:t>1</a:t>
            </a:r>
          </a:p>
          <a:p>
            <a:pPr algn="ctr">
              <a:spcBef>
                <a:spcPts val="600"/>
              </a:spcBef>
              <a:buNone/>
            </a:pPr>
            <a:r>
              <a:rPr lang="en-US" sz="1400" b="1" dirty="0">
                <a:solidFill>
                  <a:srgbClr val="E8EAED"/>
                </a:solidFill>
              </a:rPr>
              <a:t>starting-point</a:t>
            </a:r>
          </a:p>
        </p:txBody>
      </p:sp>
      <p:sp>
        <p:nvSpPr>
          <p:cNvPr id="502" name="St1"/>
          <p:cNvSpPr/>
          <p:nvPr/>
        </p:nvSpPr>
        <p:spPr>
          <a:xfrm>
            <a:off x="2362200" y="2692400"/>
            <a:ext cx="1371600" cy="2387600"/>
          </a:xfrm>
          <a:prstGeom prst="roundRect">
            <a:avLst>
              <a:gd name="adj" fmla="val 8000"/>
            </a:avLst>
          </a:prstGeom>
          <a:solidFill>
            <a:srgbClr val="1C2027"/>
          </a:solidFill>
          <a:ln w="12700">
            <a:solidFill>
              <a:srgbClr val="4FC3F7"/>
            </a:solidFill>
          </a:ln>
        </p:spPr>
        <p:txBody>
          <a:bodyPr lIns="76200" tIns="152400" rIns="76200" bIns="152400" anchor="ctr">
            <a:normAutofit/>
          </a:bodyPr>
          <a:lstStyle/>
          <a:p>
            <a:pPr algn="ctr">
              <a:buNone/>
            </a:pPr>
            <a:r>
              <a:rPr lang="en-US" sz="3200" b="1" dirty="0">
                <a:solidFill>
                  <a:srgbClr val="4FC3F7"/>
                </a:solidFill>
              </a:rPr>
              <a:t>2</a:t>
            </a:r>
          </a:p>
          <a:p>
            <a:pPr algn="ctr">
              <a:spcBef>
                <a:spcPts val="600"/>
              </a:spcBef>
              <a:buNone/>
            </a:pPr>
            <a:r>
              <a:rPr lang="en-US" sz="1400" b="1" dirty="0">
                <a:solidFill>
                  <a:srgbClr val="E8EAED"/>
                </a:solidFill>
              </a:rPr>
              <a:t>schema-integration</a:t>
            </a:r>
          </a:p>
        </p:txBody>
      </p:sp>
      <p:sp>
        <p:nvSpPr>
          <p:cNvPr id="503" name="St2"/>
          <p:cNvSpPr/>
          <p:nvPr/>
        </p:nvSpPr>
        <p:spPr>
          <a:xfrm>
            <a:off x="3886200" y="2692400"/>
            <a:ext cx="1371600" cy="2387600"/>
          </a:xfrm>
          <a:prstGeom prst="roundRect">
            <a:avLst>
              <a:gd name="adj" fmla="val 8000"/>
            </a:avLst>
          </a:prstGeom>
          <a:solidFill>
            <a:srgbClr val="1C2027"/>
          </a:solidFill>
          <a:ln w="12700">
            <a:solidFill>
              <a:srgbClr val="FFB74D"/>
            </a:solidFill>
          </a:ln>
        </p:spPr>
        <p:txBody>
          <a:bodyPr lIns="76200" tIns="152400" rIns="76200" bIns="152400" anchor="ctr">
            <a:normAutofit/>
          </a:bodyPr>
          <a:lstStyle/>
          <a:p>
            <a:pPr algn="ctr">
              <a:buNone/>
            </a:pPr>
            <a:r>
              <a:rPr lang="en-US" sz="3200" b="1" dirty="0">
                <a:solidFill>
                  <a:srgbClr val="FFB74D"/>
                </a:solidFill>
              </a:rPr>
              <a:t>3</a:t>
            </a:r>
          </a:p>
          <a:p>
            <a:pPr algn="ctr">
              <a:spcBef>
                <a:spcPts val="600"/>
              </a:spcBef>
              <a:buNone/>
            </a:pPr>
            <a:r>
              <a:rPr lang="en-US" sz="1400" b="1" dirty="0">
                <a:solidFill>
                  <a:srgbClr val="E8EAED"/>
                </a:solidFill>
              </a:rPr>
              <a:t>color-system</a:t>
            </a:r>
          </a:p>
          <a:p>
            <a:pPr algn="ctr">
              <a:buNone/>
            </a:pPr>
            <a:r>
              <a:rPr lang="en-US" sz="1400" i="1" dirty="0">
                <a:solidFill>
                  <a:srgbClr val="8A939E"/>
                </a:solidFill>
              </a:rPr>
              <a:t>4 layers</a:t>
            </a:r>
          </a:p>
        </p:txBody>
      </p:sp>
      <p:sp>
        <p:nvSpPr>
          <p:cNvPr id="504" name="St3"/>
          <p:cNvSpPr/>
          <p:nvPr/>
        </p:nvSpPr>
        <p:spPr>
          <a:xfrm>
            <a:off x="5410200" y="2692400"/>
            <a:ext cx="1371600" cy="2387600"/>
          </a:xfrm>
          <a:prstGeom prst="roundRect">
            <a:avLst>
              <a:gd name="adj" fmla="val 8000"/>
            </a:avLst>
          </a:prstGeom>
          <a:solidFill>
            <a:srgbClr val="1C2027"/>
          </a:solidFill>
          <a:ln w="12700">
            <a:solidFill>
              <a:srgbClr val="FFB74D"/>
            </a:solidFill>
          </a:ln>
        </p:spPr>
        <p:txBody>
          <a:bodyPr lIns="76200" tIns="152400" rIns="76200" bIns="152400" anchor="ctr">
            <a:normAutofit/>
          </a:bodyPr>
          <a:lstStyle/>
          <a:p>
            <a:pPr algn="ctr">
              <a:buNone/>
            </a:pPr>
            <a:r>
              <a:rPr lang="en-US" sz="3200" b="1" dirty="0">
                <a:solidFill>
                  <a:srgbClr val="FFB74D"/>
                </a:solidFill>
              </a:rPr>
              <a:t>4</a:t>
            </a:r>
          </a:p>
          <a:p>
            <a:pPr algn="ctr">
              <a:spcBef>
                <a:spcPts val="600"/>
              </a:spcBef>
              <a:buNone/>
            </a:pPr>
            <a:r>
              <a:rPr lang="en-US" sz="1400" b="1" dirty="0">
                <a:solidFill>
                  <a:srgbClr val="E8EAED"/>
                </a:solidFill>
              </a:rPr>
              <a:t>typography-roles</a:t>
            </a:r>
          </a:p>
        </p:txBody>
      </p:sp>
      <p:sp>
        <p:nvSpPr>
          <p:cNvPr id="505" name="St4"/>
          <p:cNvSpPr/>
          <p:nvPr/>
        </p:nvSpPr>
        <p:spPr>
          <a:xfrm>
            <a:off x="6934200" y="2692400"/>
            <a:ext cx="1371600" cy="2387600"/>
          </a:xfrm>
          <a:prstGeom prst="roundRect">
            <a:avLst>
              <a:gd name="adj" fmla="val 8000"/>
            </a:avLst>
          </a:prstGeom>
          <a:solidFill>
            <a:srgbClr val="1C2027"/>
          </a:solidFill>
          <a:ln w="12700">
            <a:solidFill>
              <a:srgbClr val="BA68C8"/>
            </a:solidFill>
          </a:ln>
        </p:spPr>
        <p:txBody>
          <a:bodyPr lIns="76200" tIns="152400" rIns="76200" bIns="152400" anchor="ctr">
            <a:normAutofit/>
          </a:bodyPr>
          <a:lstStyle/>
          <a:p>
            <a:pPr algn="ctr">
              <a:buNone/>
            </a:pPr>
            <a:r>
              <a:rPr lang="en-US" sz="3200" b="1" dirty="0">
                <a:solidFill>
                  <a:srgbClr val="BA68C8"/>
                </a:solidFill>
              </a:rPr>
              <a:t>5</a:t>
            </a:r>
          </a:p>
          <a:p>
            <a:pPr algn="ctr">
              <a:spcBef>
                <a:spcPts val="600"/>
              </a:spcBef>
              <a:buNone/>
            </a:pPr>
            <a:r>
              <a:rPr lang="en-US" sz="1400" b="1" dirty="0">
                <a:solidFill>
                  <a:srgbClr val="E8EAED"/>
                </a:solidFill>
              </a:rPr>
              <a:t>wildcard-defaults</a:t>
            </a:r>
          </a:p>
        </p:txBody>
      </p:sp>
      <p:sp>
        <p:nvSpPr>
          <p:cNvPr id="506" name="St5"/>
          <p:cNvSpPr/>
          <p:nvPr/>
        </p:nvSpPr>
        <p:spPr>
          <a:xfrm>
            <a:off x="8458200" y="2692400"/>
            <a:ext cx="1371600" cy="2387600"/>
          </a:xfrm>
          <a:prstGeom prst="roundRect">
            <a:avLst>
              <a:gd name="adj" fmla="val 8000"/>
            </a:avLst>
          </a:prstGeom>
          <a:solidFill>
            <a:srgbClr val="1C2027"/>
          </a:solidFill>
          <a:ln w="12700">
            <a:solidFill>
              <a:srgbClr val="BA68C8"/>
            </a:solidFill>
          </a:ln>
        </p:spPr>
        <p:txBody>
          <a:bodyPr lIns="76200" tIns="152400" rIns="76200" bIns="152400" anchor="ctr">
            <a:normAutofit/>
          </a:bodyPr>
          <a:lstStyle/>
          <a:p>
            <a:pPr algn="ctr">
              <a:buNone/>
            </a:pPr>
            <a:r>
              <a:rPr lang="en-US" sz="3200" b="1" dirty="0">
                <a:solidFill>
                  <a:srgbClr val="BA68C8"/>
                </a:solidFill>
              </a:rPr>
              <a:t>6</a:t>
            </a:r>
          </a:p>
          <a:p>
            <a:pPr algn="ctr">
              <a:spcBef>
                <a:spcPts val="600"/>
              </a:spcBef>
              <a:buNone/>
            </a:pPr>
            <a:r>
              <a:rPr lang="en-US" sz="1400" b="1" dirty="0">
                <a:solidFill>
                  <a:srgbClr val="E8EAED"/>
                </a:solidFill>
              </a:rPr>
              <a:t>visual-type-priorities</a:t>
            </a:r>
          </a:p>
        </p:txBody>
      </p:sp>
      <p:sp>
        <p:nvSpPr>
          <p:cNvPr id="507" name="St6"/>
          <p:cNvSpPr/>
          <p:nvPr/>
        </p:nvSpPr>
        <p:spPr>
          <a:xfrm>
            <a:off x="9982200" y="2692400"/>
            <a:ext cx="1371600" cy="2387600"/>
          </a:xfrm>
          <a:prstGeom prst="roundRect">
            <a:avLst>
              <a:gd name="adj" fmla="val 8000"/>
            </a:avLst>
          </a:prstGeom>
          <a:solidFill>
            <a:srgbClr val="1C2027"/>
          </a:solidFill>
          <a:ln w="12700">
            <a:solidFill>
              <a:srgbClr val="66BB6A"/>
            </a:solidFill>
          </a:ln>
        </p:spPr>
        <p:txBody>
          <a:bodyPr lIns="76200" tIns="152400" rIns="76200" bIns="152400" anchor="ctr">
            <a:normAutofit/>
          </a:bodyPr>
          <a:lstStyle/>
          <a:p>
            <a:pPr algn="ctr">
              <a:buNone/>
            </a:pPr>
            <a:r>
              <a:rPr lang="en-US" sz="3200" b="1" dirty="0">
                <a:solidFill>
                  <a:srgbClr val="66BB6A"/>
                </a:solidFill>
              </a:rPr>
              <a:t>7</a:t>
            </a:r>
          </a:p>
          <a:p>
            <a:pPr algn="ctr">
              <a:spcBef>
                <a:spcPts val="600"/>
              </a:spcBef>
              <a:buNone/>
            </a:pPr>
            <a:r>
              <a:rPr lang="en-US" sz="1400" b="1" dirty="0">
                <a:solidFill>
                  <a:srgbClr val="E8EAED"/>
                </a:solidFill>
              </a:rPr>
              <a:t>checklist</a:t>
            </a:r>
          </a:p>
        </p:txBody>
      </p:sp>
      <p:sp>
        <p:nvSpPr>
          <p:cNvPr id="508" name="Save"/>
          <p:cNvSpPr/>
          <p:nvPr/>
        </p:nvSpPr>
        <p:spPr>
          <a:xfrm>
            <a:off x="838200" y="5308600"/>
            <a:ext cx="10515600" cy="914400"/>
          </a:xfrm>
          <a:prstGeom prst="roundRect">
            <a:avLst>
              <a:gd name="adj" fmla="val 12000"/>
            </a:avLst>
          </a:prstGeom>
          <a:solidFill>
            <a:srgbClr val="1A1D23"/>
          </a:solidFill>
          <a:ln w="12700">
            <a:solidFill>
              <a:srgbClr val="2E343D"/>
            </a:solidFill>
          </a:ln>
        </p:spPr>
        <p:txBody>
          <a:bodyPr lIns="228600" tIns="101600" rIns="228600" bIns="101600" anchor="ctr">
            <a:normAutofit/>
          </a:bodyPr>
          <a:lstStyle/>
          <a:p>
            <a:pPr algn="l">
              <a:buNone/>
            </a:pPr>
            <a:r>
              <a:rPr lang="en-US" sz="1500" b="1" dirty="0">
                <a:solidFill>
                  <a:srgbClr val="66BB6A"/>
                </a:solidFill>
              </a:rPr>
              <a:t>Save → </a:t>
            </a:r>
            <a:r>
              <a:rPr lang="en-US" sz="1500" dirty="0">
                <a:solidFill>
                  <a:srgbClr val="4FC3F7"/>
                </a:solidFill>
                <a:latin typeface="Consolas"/>
              </a:rPr>
              <a:t>projects/themes/&lt;slug&gt;/&lt;slug&gt;-v1.0.json</a:t>
            </a:r>
          </a:p>
          <a:p>
            <a:pPr algn="l">
              <a:buNone/>
            </a:pPr>
            <a:r>
              <a:rPr lang="en-US" sz="1400" dirty="0">
                <a:solidFill>
                  <a:srgbClr val="AAB2BC"/>
                </a:solidFill>
              </a:rPr>
              <a:t>Each step is one atomic file under 02-build/theme/create/ — Claude loads only the steps in progress.</a:t>
            </a:r>
          </a:p>
        </p:txBody>
      </p:sp>
    </p:spTree>
    <p:extLst>
      <p:ext uri="{BB962C8B-B14F-4D97-AF65-F5344CB8AC3E}">
        <p14:creationId xmlns:p14="http://schemas.microsoft.com/office/powerpoint/2010/main" val="7390401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F5C9A-D957-2EB6-F05C-C93D801364A0}"/>
              </a:ext>
            </a:extLst>
          </p:cNvPr>
          <p:cNvSpPr>
            <a:spLocks noGrp="1"/>
          </p:cNvSpPr>
          <p:nvPr>
            <p:ph type="title"/>
          </p:nvPr>
        </p:nvSpPr>
        <p:spPr/>
        <p:txBody>
          <a:bodyPr/>
          <a:lstStyle/>
          <a:p>
            <a:r>
              <a:rPr lang="en-US" dirty="0"/>
              <a:t>6 — Three hook subsystems, three switches</a:t>
            </a:r>
          </a:p>
        </p:txBody>
      </p:sp>
      <p:sp>
        <p:nvSpPr>
          <p:cNvPr id="600" name="Parent"/>
          <p:cNvSpPr/>
          <p:nvPr/>
        </p:nvSpPr>
        <p:spPr>
          <a:xfrm>
            <a:off x="838200" y="1879600"/>
            <a:ext cx="10515600" cy="609600"/>
          </a:xfrm>
          <a:prstGeom prst="roundRect">
            <a:avLst>
              <a:gd name="adj" fmla="val 14000"/>
            </a:avLst>
          </a:prstGeom>
          <a:solidFill>
            <a:srgbClr val="20242B"/>
          </a:solidFill>
          <a:ln>
            <a:noFill/>
          </a:ln>
        </p:spPr>
        <p:txBody>
          <a:bodyPr lIns="228600" rIns="228600" anchor="ctr"/>
          <a:lstStyle/>
          <a:p>
            <a:pPr algn="ctr">
              <a:buNone/>
            </a:pPr>
            <a:r>
              <a:rPr lang="en-US" sz="1600" b="1" dirty="0">
                <a:solidFill>
                  <a:srgbClr val="4FC3F7"/>
                </a:solidFill>
                <a:latin typeface="Consolas"/>
              </a:rPr>
              <a:t>power-bi/hooks.yaml</a:t>
            </a:r>
            <a:r>
              <a:rPr lang="en-US" sz="1600" dirty="0">
                <a:solidFill>
                  <a:srgbClr val="C3C9D1"/>
                </a:solidFill>
              </a:rPr>
              <a:t>   —  one master toggle per subsystem</a:t>
            </a:r>
          </a:p>
        </p:txBody>
      </p:sp>
      <p:sp>
        <p:nvSpPr>
          <p:cNvPr id="601" name="H0"/>
          <p:cNvSpPr/>
          <p:nvPr/>
        </p:nvSpPr>
        <p:spPr>
          <a:xfrm>
            <a:off x="838200" y="2692400"/>
            <a:ext cx="3352800" cy="2692400"/>
          </a:xfrm>
          <a:prstGeom prst="roundRect">
            <a:avLst>
              <a:gd name="adj" fmla="val 8000"/>
            </a:avLst>
          </a:prstGeom>
          <a:solidFill>
            <a:srgbClr val="1C2027"/>
          </a:solidFill>
          <a:ln w="12700">
            <a:solidFill>
              <a:srgbClr val="66BB6A"/>
            </a:solidFill>
          </a:ln>
        </p:spPr>
        <p:txBody>
          <a:bodyPr lIns="190500" tIns="177800" rIns="190500" bIns="177800" anchor="t">
            <a:normAutofit/>
          </a:bodyPr>
          <a:lstStyle/>
          <a:p>
            <a:pPr algn="l">
              <a:buNone/>
            </a:pPr>
            <a:r>
              <a:rPr lang="en-US" sz="1900" b="1" dirty="0">
                <a:solidFill>
                  <a:srgbClr val="66BB6A"/>
                </a:solidFill>
                <a:latin typeface="Consolas"/>
              </a:rPr>
              <a:t>review: true</a:t>
            </a:r>
          </a:p>
          <a:p>
            <a:pPr algn="l">
              <a:spcBef>
                <a:spcPts val="400"/>
              </a:spcBef>
              <a:buNone/>
            </a:pPr>
            <a:r>
              <a:rPr lang="en-US" sz="1400" dirty="0">
                <a:solidFill>
                  <a:srgbClr val="8A939E"/>
                </a:solidFill>
                <a:latin typeface="Consolas"/>
              </a:rPr>
              <a:t>04-review/hooks/</a:t>
            </a:r>
          </a:p>
          <a:p>
            <a:pPr algn="l">
              <a:spcBef>
                <a:spcPts val="700"/>
              </a:spcBef>
              <a:buNone/>
            </a:pPr>
            <a:r>
              <a:rPr lang="en-US" sz="1500" b="1" dirty="0">
                <a:solidFill>
                  <a:srgbClr val="FFFFFF"/>
                </a:solidFill>
              </a:rPr>
              <a:t>PostToolUse on Write and Edit</a:t>
            </a:r>
          </a:p>
          <a:p>
            <a:pPr algn="l">
              <a:spcBef>
                <a:spcPts val="400"/>
              </a:spcBef>
              <a:buNone/>
            </a:pPr>
            <a:r>
              <a:rPr lang="en-US" sz="1500" dirty="0">
                <a:solidFill>
                  <a:srgbClr val="AAB2BC"/>
                </a:solidFill>
              </a:rPr>
              <a:t>Validates PBIR and TMDL files the moment they are written to disk.</a:t>
            </a:r>
          </a:p>
        </p:txBody>
      </p:sp>
      <p:sp>
        <p:nvSpPr>
          <p:cNvPr id="602" name="H1"/>
          <p:cNvSpPr/>
          <p:nvPr/>
        </p:nvSpPr>
        <p:spPr>
          <a:xfrm>
            <a:off x="4419600" y="2692400"/>
            <a:ext cx="3352800" cy="2692400"/>
          </a:xfrm>
          <a:prstGeom prst="roundRect">
            <a:avLst>
              <a:gd name="adj" fmla="val 8000"/>
            </a:avLst>
          </a:prstGeom>
          <a:solidFill>
            <a:srgbClr val="1C2027"/>
          </a:solidFill>
          <a:ln w="12700">
            <a:solidFill>
              <a:srgbClr val="FFB74D"/>
            </a:solidFill>
          </a:ln>
        </p:spPr>
        <p:txBody>
          <a:bodyPr lIns="190500" tIns="177800" rIns="190500" bIns="177800" anchor="t">
            <a:normAutofit/>
          </a:bodyPr>
          <a:lstStyle/>
          <a:p>
            <a:pPr algn="l">
              <a:buNone/>
            </a:pPr>
            <a:r>
              <a:rPr lang="en-US" sz="1900" b="1" dirty="0">
                <a:solidFill>
                  <a:srgbClr val="FFB74D"/>
                </a:solidFill>
                <a:latin typeface="Consolas"/>
              </a:rPr>
              <a:t>bind: true</a:t>
            </a:r>
          </a:p>
          <a:p>
            <a:pPr algn="l">
              <a:spcBef>
                <a:spcPts val="400"/>
              </a:spcBef>
              <a:buNone/>
            </a:pPr>
            <a:r>
              <a:rPr lang="en-US" sz="1400" dirty="0">
                <a:solidFill>
                  <a:srgbClr val="8A939E"/>
                </a:solidFill>
                <a:latin typeface="Consolas"/>
              </a:rPr>
              <a:t>03-bind/via-powershell/hooks/</a:t>
            </a:r>
          </a:p>
          <a:p>
            <a:pPr algn="l">
              <a:spcBef>
                <a:spcPts val="700"/>
              </a:spcBef>
              <a:buNone/>
            </a:pPr>
            <a:r>
              <a:rPr lang="en-US" sz="1500" b="1" dirty="0">
                <a:solidFill>
                  <a:srgbClr val="FFFFFF"/>
                </a:solidFill>
              </a:rPr>
              <a:t>Pre- and PostToolUse on Bash</a:t>
            </a:r>
          </a:p>
          <a:p>
            <a:pPr algn="l">
              <a:spcBef>
                <a:spcPts val="400"/>
              </a:spcBef>
              <a:buNone/>
            </a:pPr>
            <a:r>
              <a:rPr lang="en-US" sz="1500" dirty="0">
                <a:solidFill>
                  <a:srgbClr val="AAB2BC"/>
                </a:solidFill>
              </a:rPr>
              <a:t>Guards live TOM / ADOMD operations against the running model.</a:t>
            </a:r>
          </a:p>
        </p:txBody>
      </p:sp>
      <p:sp>
        <p:nvSpPr>
          <p:cNvPr id="603" name="H2"/>
          <p:cNvSpPr/>
          <p:nvPr/>
        </p:nvSpPr>
        <p:spPr>
          <a:xfrm>
            <a:off x="8001000" y="2692400"/>
            <a:ext cx="3352800" cy="2692400"/>
          </a:xfrm>
          <a:prstGeom prst="roundRect">
            <a:avLst>
              <a:gd name="adj" fmla="val 8000"/>
            </a:avLst>
          </a:prstGeom>
          <a:solidFill>
            <a:srgbClr val="1C2027"/>
          </a:solidFill>
          <a:ln w="12700">
            <a:solidFill>
              <a:srgbClr val="BA68C8"/>
            </a:solidFill>
          </a:ln>
        </p:spPr>
        <p:txBody>
          <a:bodyPr lIns="190500" tIns="177800" rIns="190500" bIns="177800" anchor="t">
            <a:normAutofit/>
          </a:bodyPr>
          <a:lstStyle/>
          <a:p>
            <a:pPr algn="l">
              <a:buNone/>
            </a:pPr>
            <a:r>
              <a:rPr lang="en-US" sz="1900" b="1" dirty="0">
                <a:solidFill>
                  <a:srgbClr val="BA68C8"/>
                </a:solidFill>
                <a:latin typeface="Consolas"/>
              </a:rPr>
              <a:t>briefs: true</a:t>
            </a:r>
          </a:p>
          <a:p>
            <a:pPr algn="l">
              <a:spcBef>
                <a:spcPts val="400"/>
              </a:spcBef>
              <a:buNone/>
            </a:pPr>
            <a:r>
              <a:rPr lang="en-US" sz="1400" dirty="0">
                <a:solidFill>
                  <a:srgbClr val="8A939E"/>
                </a:solidFill>
                <a:latin typeface="Consolas"/>
              </a:rPr>
              <a:t>01-brief/hooks/</a:t>
            </a:r>
          </a:p>
          <a:p>
            <a:pPr algn="l">
              <a:spcBef>
                <a:spcPts val="700"/>
              </a:spcBef>
              <a:buNone/>
            </a:pPr>
            <a:r>
              <a:rPr lang="en-US" sz="1500" b="1" dirty="0">
                <a:solidFill>
                  <a:srgbClr val="FFFFFF"/>
                </a:solidFill>
              </a:rPr>
              <a:t>UserPromptSubmit</a:t>
            </a:r>
          </a:p>
          <a:p>
            <a:pPr algn="l">
              <a:spcBef>
                <a:spcPts val="400"/>
              </a:spcBef>
              <a:buNone/>
            </a:pPr>
            <a:r>
              <a:rPr lang="en-US" sz="1500" dirty="0">
                <a:solidFill>
                  <a:srgbClr val="AAB2BC"/>
                </a:solidFill>
              </a:rPr>
              <a:t>Surfaces any brief you edited in the last hour before a plan is proposed.</a:t>
            </a:r>
          </a:p>
        </p:txBody>
      </p:sp>
      <p:sp>
        <p:nvSpPr>
          <p:cNvPr id="604" name="Foot"/>
          <p:cNvSpPr/>
          <p:nvPr/>
        </p:nvSpPr>
        <p:spPr>
          <a:xfrm>
            <a:off x="838200" y="5588000"/>
            <a:ext cx="10515600" cy="660400"/>
          </a:xfrm>
          <a:prstGeom prst="roundRect">
            <a:avLst>
              <a:gd name="adj" fmla="val 14000"/>
            </a:avLst>
          </a:prstGeom>
          <a:solidFill>
            <a:srgbClr val="1A1D23"/>
          </a:solidFill>
          <a:ln w="12700">
            <a:solidFill>
              <a:srgbClr val="2E343D"/>
            </a:solidFill>
          </a:ln>
        </p:spPr>
        <p:txBody>
          <a:bodyPr lIns="228600" rIns="228600" anchor="ctr"/>
          <a:lstStyle/>
          <a:p>
            <a:pPr algn="l">
              <a:buNone/>
            </a:pPr>
            <a:r>
              <a:rPr lang="en-US" sz="1500" dirty="0">
                <a:solidFill>
                  <a:srgbClr val="C3C9D1"/>
                </a:solidFill>
              </a:rPr>
              <a:t>Flip any switch to </a:t>
            </a:r>
            <a:r>
              <a:rPr lang="en-US" sz="1500" b="1" dirty="0">
                <a:solidFill>
                  <a:srgbClr val="EF5350"/>
                </a:solidFill>
                <a:latin typeface="Consolas"/>
              </a:rPr>
              <a:t>false</a:t>
            </a:r>
            <a:r>
              <a:rPr lang="en-US" sz="1500" dirty="0">
                <a:solidFill>
                  <a:srgbClr val="C3C9D1"/>
                </a:solidFill>
              </a:rPr>
              <a:t> for fast iteration. The blueprint’s routing works fine without any of them.</a:t>
            </a:r>
          </a:p>
        </p:txBody>
      </p:sp>
    </p:spTree>
    <p:extLst>
      <p:ext uri="{BB962C8B-B14F-4D97-AF65-F5344CB8AC3E}">
        <p14:creationId xmlns:p14="http://schemas.microsoft.com/office/powerpoint/2010/main" val="4048101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8A987-6307-7BC3-E843-B328FD1BA21E}"/>
              </a:ext>
            </a:extLst>
          </p:cNvPr>
          <p:cNvSpPr>
            <a:spLocks noGrp="1"/>
          </p:cNvSpPr>
          <p:nvPr>
            <p:ph type="title"/>
          </p:nvPr>
        </p:nvSpPr>
        <p:spPr/>
        <p:txBody>
          <a:bodyPr/>
          <a:lstStyle/>
          <a:p>
            <a:r>
              <a:rPr lang="en-US" dirty="0"/>
              <a:t>Adding a blueprint for a new tool</a:t>
            </a:r>
          </a:p>
        </p:txBody>
      </p:sp>
      <p:sp>
        <p:nvSpPr>
          <p:cNvPr id="3" name="Content Placeholder 2">
            <a:extLst>
              <a:ext uri="{FF2B5EF4-FFF2-40B4-BE49-F238E27FC236}">
                <a16:creationId xmlns:a16="http://schemas.microsoft.com/office/drawing/2014/main" id="{55973CF0-4754-C0DE-F463-AF9620FA523F}"/>
              </a:ext>
            </a:extLst>
          </p:cNvPr>
          <p:cNvSpPr>
            <a:spLocks noGrp="1"/>
          </p:cNvSpPr>
          <p:nvPr>
            <p:ph idx="1"/>
          </p:nvPr>
        </p:nvSpPr>
        <p:spPr>
          <a:xfrm>
            <a:off x="838200" y="1854200"/>
            <a:ext cx="10515600" cy="3200400"/>
          </a:xfrm>
        </p:spPr>
        <p:txBody>
          <a:bodyPr/>
          <a:lstStyle/>
          <a:p>
            <a:pPr marL="457200" indent="-457200">
              <a:spcBef>
                <a:spcPts val="1500"/>
              </a:spcBef>
              <a:buClr>
                <a:srgbClr val="4FC3F7"/>
              </a:buClr>
              <a:buFont typeface="+mj-lt"/>
              <a:buAutoNum type="arabicPeriod"/>
            </a:pPr>
            <a:r>
              <a:rPr lang="en-US" sz="2000" dirty="0">
                <a:solidFill>
                  <a:srgbClr val="D6DAE0"/>
                </a:solidFill>
              </a:rPr>
              <a:t>Create </a:t>
            </a:r>
            <a:r>
              <a:rPr lang="en-US" sz="2000" b="1" dirty="0">
                <a:solidFill>
                  <a:srgbClr val="FFFFFF"/>
                </a:solidFill>
                <a:latin typeface="Consolas"/>
              </a:rPr>
              <a:t>&lt;tool-name&gt;/</a:t>
            </a:r>
            <a:r>
              <a:rPr lang="en-US" sz="2000" dirty="0">
                <a:solidFill>
                  <a:srgbClr val="D6DAE0"/>
                </a:solidFill>
              </a:rPr>
              <a:t> at the workspace root, kebab-case</a:t>
            </a:r>
          </a:p>
          <a:p>
            <a:pPr marL="457200" indent="-457200">
              <a:spcBef>
                <a:spcPts val="1500"/>
              </a:spcBef>
              <a:buClr>
                <a:srgbClr val="4FC3F7"/>
              </a:buClr>
              <a:buFont typeface="+mj-lt"/>
              <a:buAutoNum type="arabicPeriod"/>
            </a:pPr>
            <a:r>
              <a:rPr lang="en-US" sz="2000" dirty="0">
                <a:solidFill>
                  <a:srgbClr val="D6DAE0"/>
                </a:solidFill>
              </a:rPr>
              <a:t>Add </a:t>
            </a:r>
            <a:r>
              <a:rPr lang="en-US" sz="2000" b="1" dirty="0">
                <a:solidFill>
                  <a:srgbClr val="FFFFFF"/>
                </a:solidFill>
                <a:latin typeface="Consolas"/>
              </a:rPr>
              <a:t>&lt;tool-name&gt;/CLAUDE.md</a:t>
            </a:r>
            <a:r>
              <a:rPr lang="en-US" sz="2000" dirty="0">
                <a:solidFill>
                  <a:srgbClr val="D6DAE0"/>
                </a:solidFill>
              </a:rPr>
              <a:t> — the L1 router for that blueprint</a:t>
            </a:r>
          </a:p>
          <a:p>
            <a:pPr marL="457200" indent="-457200">
              <a:spcBef>
                <a:spcPts val="1500"/>
              </a:spcBef>
              <a:buClr>
                <a:srgbClr val="4FC3F7"/>
              </a:buClr>
              <a:buFont typeface="+mj-lt"/>
              <a:buAutoNum type="arabicPeriod"/>
            </a:pPr>
            <a:r>
              <a:rPr lang="en-US" sz="2000" dirty="0">
                <a:solidFill>
                  <a:srgbClr val="D6DAE0"/>
                </a:solidFill>
              </a:rPr>
              <a:t>Add </a:t>
            </a:r>
            <a:r>
              <a:rPr lang="en-US" sz="2000" b="1" dirty="0">
                <a:solidFill>
                  <a:srgbClr val="FFFFFF"/>
                </a:solidFill>
                <a:latin typeface="Consolas"/>
              </a:rPr>
              <a:t>&lt;tool-name&gt;/README.md</a:t>
            </a:r>
            <a:r>
              <a:rPr lang="en-US" sz="2000" dirty="0">
                <a:solidFill>
                  <a:srgbClr val="D6DAE0"/>
                </a:solidFill>
              </a:rPr>
              <a:t> — the human-facing intro</a:t>
            </a:r>
          </a:p>
          <a:p>
            <a:pPr marL="457200" indent="-457200">
              <a:spcBef>
                <a:spcPts val="1500"/>
              </a:spcBef>
              <a:buClr>
                <a:srgbClr val="4FC3F7"/>
              </a:buClr>
              <a:buFont typeface="+mj-lt"/>
              <a:buAutoNum type="arabicPeriod"/>
            </a:pPr>
            <a:r>
              <a:rPr lang="en-US" sz="2000" dirty="0">
                <a:solidFill>
                  <a:srgbClr val="D6DAE0"/>
                </a:solidFill>
              </a:rPr>
              <a:t>Add numbered rooms </a:t>
            </a:r>
            <a:r>
              <a:rPr lang="en-US" sz="2000" b="1" dirty="0">
                <a:solidFill>
                  <a:srgbClr val="FFFFFF"/>
                </a:solidFill>
                <a:latin typeface="Consolas"/>
              </a:rPr>
              <a:t>01-… · 02-…</a:t>
            </a:r>
            <a:r>
              <a:rPr lang="en-US" sz="2000" dirty="0">
                <a:solidFill>
                  <a:srgbClr val="D6DAE0"/>
                </a:solidFill>
              </a:rPr>
              <a:t>, each with a context.md plus its atomic files</a:t>
            </a:r>
          </a:p>
          <a:p>
            <a:pPr marL="457200" indent="-457200">
              <a:spcBef>
                <a:spcPts val="1500"/>
              </a:spcBef>
              <a:buClr>
                <a:srgbClr val="4FC3F7"/>
              </a:buClr>
              <a:buFont typeface="+mj-lt"/>
              <a:buAutoNum type="arabicPeriod"/>
            </a:pPr>
            <a:r>
              <a:rPr lang="en-US" sz="2000" dirty="0">
                <a:solidFill>
                  <a:srgbClr val="D6DAE0"/>
                </a:solidFill>
              </a:rPr>
              <a:t>Add </a:t>
            </a:r>
            <a:r>
              <a:rPr lang="en-US" sz="2000" b="1" dirty="0">
                <a:solidFill>
                  <a:srgbClr val="FFFFFF"/>
                </a:solidFill>
                <a:latin typeface="Consolas"/>
              </a:rPr>
              <a:t>projects/ · outputs/ · _examples/</a:t>
            </a:r>
            <a:r>
              <a:rPr lang="en-US" sz="2000" dirty="0">
                <a:solidFill>
                  <a:srgbClr val="D6DAE0"/>
                </a:solidFill>
              </a:rPr>
              <a:t> in exactly the same shape</a:t>
            </a:r>
          </a:p>
          <a:p>
            <a:pPr marL="457200" indent="-457200">
              <a:spcBef>
                <a:spcPts val="1500"/>
              </a:spcBef>
              <a:buClr>
                <a:srgbClr val="4FC3F7"/>
              </a:buClr>
              <a:buFont typeface="+mj-lt"/>
              <a:buAutoNum type="arabicPeriod"/>
            </a:pPr>
            <a:r>
              <a:rPr lang="en-US" sz="2000" dirty="0">
                <a:solidFill>
                  <a:srgbClr val="D6DAE0"/>
                </a:solidFill>
              </a:rPr>
              <a:t>Update the root </a:t>
            </a:r>
            <a:r>
              <a:rPr lang="en-US" sz="2000" b="1" dirty="0">
                <a:solidFill>
                  <a:srgbClr val="FFFFFF"/>
                </a:solidFill>
                <a:latin typeface="Consolas"/>
              </a:rPr>
              <a:t>CLAUDE.md</a:t>
            </a:r>
            <a:r>
              <a:rPr lang="en-US" sz="2000" dirty="0">
                <a:solidFill>
                  <a:srgbClr val="D6DAE0"/>
                </a:solidFill>
              </a:rPr>
              <a:t> and README.md blueprint tables</a:t>
            </a:r>
          </a:p>
        </p:txBody>
      </p:sp>
      <p:sp>
        <p:nvSpPr>
          <p:cNvPr id="700" name="Seam"/>
          <p:cNvSpPr/>
          <p:nvPr/>
        </p:nvSpPr>
        <p:spPr>
          <a:xfrm>
            <a:off x="838200" y="5257800"/>
            <a:ext cx="10515600" cy="1016000"/>
          </a:xfrm>
          <a:prstGeom prst="roundRect">
            <a:avLst>
              <a:gd name="adj" fmla="val 10000"/>
            </a:avLst>
          </a:prstGeom>
          <a:solidFill>
            <a:srgbClr val="1A1D23"/>
          </a:solidFill>
          <a:ln w="12700">
            <a:solidFill>
              <a:srgbClr val="66BB6A"/>
            </a:solidFill>
          </a:ln>
        </p:spPr>
        <p:txBody>
          <a:bodyPr lIns="228600" tIns="114300" rIns="228600" bIns="114300" anchor="ctr">
            <a:normAutofit fontScale="92500"/>
          </a:bodyPr>
          <a:lstStyle/>
          <a:p>
            <a:pPr algn="l">
              <a:buNone/>
            </a:pPr>
            <a:r>
              <a:rPr lang="en-US" sz="1600" b="1" dirty="0">
                <a:solidFill>
                  <a:srgbClr val="66BB6A"/>
                </a:solidFill>
              </a:rPr>
              <a:t>One seam between blueprints. </a:t>
            </a:r>
            <a:r>
              <a:rPr lang="en-US" sz="1600" dirty="0">
                <a:solidFill>
                  <a:srgbClr val="D6DAE0"/>
                </a:solidFill>
              </a:rPr>
              <a:t>synthetic-data/04-output/handoff-to-power-bi.md writes generated data into a Power BI model.</a:t>
            </a:r>
          </a:p>
          <a:p>
            <a:pPr algn="l">
              <a:buNone/>
            </a:pPr>
            <a:r>
              <a:rPr lang="en-US" sz="1600" dirty="0">
                <a:solidFill>
                  <a:srgbClr val="C3C9D1"/>
                </a:solidFill>
              </a:rPr>
              <a:t>Never let one blueprint reach into another’s rooms — synthetic-data/ is the live worked example of these six steps.</a:t>
            </a:r>
          </a:p>
        </p:txBody>
      </p:sp>
    </p:spTree>
    <p:extLst>
      <p:ext uri="{BB962C8B-B14F-4D97-AF65-F5344CB8AC3E}">
        <p14:creationId xmlns:p14="http://schemas.microsoft.com/office/powerpoint/2010/main" val="22687778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18D0B-57F0-498C-A2F6-D5499E73D336}"/>
              </a:ext>
            </a:extLst>
          </p:cNvPr>
          <p:cNvSpPr>
            <a:spLocks noGrp="1"/>
          </p:cNvSpPr>
          <p:nvPr>
            <p:ph type="title"/>
          </p:nvPr>
        </p:nvSpPr>
        <p:spPr/>
        <p:txBody>
          <a:bodyPr/>
          <a:lstStyle/>
          <a:p>
            <a:r>
              <a:rPr lang="en-US" dirty="0"/>
              <a:t>What it is not — and the 60-second version</a:t>
            </a:r>
          </a:p>
        </p:txBody>
      </p:sp>
      <p:sp>
        <p:nvSpPr>
          <p:cNvPr id="800" name="N0"/>
          <p:cNvSpPr/>
          <p:nvPr/>
        </p:nvSpPr>
        <p:spPr>
          <a:xfrm>
            <a:off x="838200" y="1930400"/>
            <a:ext cx="5080000" cy="863600"/>
          </a:xfrm>
          <a:prstGeom prst="roundRect">
            <a:avLst>
              <a:gd name="adj" fmla="val 10000"/>
            </a:avLst>
          </a:prstGeom>
          <a:solidFill>
            <a:srgbClr val="1C2027"/>
          </a:solidFill>
          <a:ln>
            <a:noFill/>
          </a:ln>
        </p:spPr>
        <p:txBody>
          <a:bodyPr lIns="190500" tIns="101600" rIns="190500" bIns="101600" anchor="ctr">
            <a:normAutofit fontScale="92500" lnSpcReduction="10000"/>
          </a:bodyPr>
          <a:lstStyle/>
          <a:p>
            <a:pPr algn="l">
              <a:buNone/>
            </a:pPr>
            <a:r>
              <a:rPr lang="en-US" sz="1700" b="1" dirty="0">
                <a:solidFill>
                  <a:srgbClr val="EF5350"/>
                </a:solidFill>
              </a:rPr>
              <a:t>✕  Not an agent</a:t>
            </a:r>
          </a:p>
          <a:p>
            <a:pPr algn="l">
              <a:buNone/>
            </a:pPr>
            <a:r>
              <a:rPr lang="en-US" sz="1400" dirty="0">
                <a:solidFill>
                  <a:srgbClr val="AAB2BC"/>
                </a:solidFill>
              </a:rPr>
              <a:t>no custom persona, no system prompt — just a folder Claude reads</a:t>
            </a:r>
          </a:p>
        </p:txBody>
      </p:sp>
      <p:sp>
        <p:nvSpPr>
          <p:cNvPr id="801" name="N1"/>
          <p:cNvSpPr/>
          <p:nvPr/>
        </p:nvSpPr>
        <p:spPr>
          <a:xfrm>
            <a:off x="838200" y="2946400"/>
            <a:ext cx="5080000" cy="863600"/>
          </a:xfrm>
          <a:prstGeom prst="roundRect">
            <a:avLst>
              <a:gd name="adj" fmla="val 10000"/>
            </a:avLst>
          </a:prstGeom>
          <a:solidFill>
            <a:srgbClr val="1C2027"/>
          </a:solidFill>
          <a:ln>
            <a:noFill/>
          </a:ln>
        </p:spPr>
        <p:txBody>
          <a:bodyPr lIns="190500" tIns="101600" rIns="190500" bIns="101600" anchor="ctr">
            <a:normAutofit fontScale="92500"/>
          </a:bodyPr>
          <a:lstStyle/>
          <a:p>
            <a:pPr algn="l">
              <a:buNone/>
            </a:pPr>
            <a:r>
              <a:rPr lang="en-US" sz="1700" b="1" dirty="0">
                <a:solidFill>
                  <a:srgbClr val="EF5350"/>
                </a:solidFill>
              </a:rPr>
              <a:t>✕  Not a plugin</a:t>
            </a:r>
          </a:p>
          <a:p>
            <a:pPr algn="l">
              <a:buNone/>
            </a:pPr>
            <a:r>
              <a:rPr lang="en-US" sz="1400" dirty="0">
                <a:solidFill>
                  <a:srgbClr val="AAB2BC"/>
                </a:solidFill>
              </a:rPr>
              <a:t>no .claude-plugin manifest, nothing published to a marketplace</a:t>
            </a:r>
          </a:p>
        </p:txBody>
      </p:sp>
      <p:sp>
        <p:nvSpPr>
          <p:cNvPr id="802" name="N2"/>
          <p:cNvSpPr/>
          <p:nvPr/>
        </p:nvSpPr>
        <p:spPr>
          <a:xfrm>
            <a:off x="838200" y="3962400"/>
            <a:ext cx="5080000" cy="863600"/>
          </a:xfrm>
          <a:prstGeom prst="roundRect">
            <a:avLst>
              <a:gd name="adj" fmla="val 10000"/>
            </a:avLst>
          </a:prstGeom>
          <a:solidFill>
            <a:srgbClr val="1C2027"/>
          </a:solidFill>
          <a:ln>
            <a:noFill/>
          </a:ln>
        </p:spPr>
        <p:txBody>
          <a:bodyPr lIns="190500" tIns="101600" rIns="190500" bIns="101600" anchor="ctr">
            <a:normAutofit/>
          </a:bodyPr>
          <a:lstStyle/>
          <a:p>
            <a:pPr algn="l">
              <a:buNone/>
            </a:pPr>
            <a:r>
              <a:rPr lang="en-US" sz="1700" b="1" dirty="0">
                <a:solidFill>
                  <a:srgbClr val="EF5350"/>
                </a:solidFill>
              </a:rPr>
              <a:t>✕  Not a skill</a:t>
            </a:r>
          </a:p>
          <a:p>
            <a:pPr algn="l">
              <a:buNone/>
            </a:pPr>
            <a:r>
              <a:rPr lang="en-US" sz="1400" dirty="0">
                <a:solidFill>
                  <a:srgbClr val="AAB2BC"/>
                </a:solidFill>
              </a:rPr>
              <a:t>no SKILL.md with frontmatter activation triggers</a:t>
            </a:r>
          </a:p>
        </p:txBody>
      </p:sp>
      <p:sp>
        <p:nvSpPr>
          <p:cNvPr id="803" name="N3"/>
          <p:cNvSpPr/>
          <p:nvPr/>
        </p:nvSpPr>
        <p:spPr>
          <a:xfrm>
            <a:off x="838200" y="4978400"/>
            <a:ext cx="5080000" cy="863600"/>
          </a:xfrm>
          <a:prstGeom prst="roundRect">
            <a:avLst>
              <a:gd name="adj" fmla="val 10000"/>
            </a:avLst>
          </a:prstGeom>
          <a:solidFill>
            <a:srgbClr val="1C2027"/>
          </a:solidFill>
          <a:ln>
            <a:noFill/>
          </a:ln>
        </p:spPr>
        <p:txBody>
          <a:bodyPr lIns="190500" tIns="101600" rIns="190500" bIns="101600" anchor="ctr">
            <a:normAutofit/>
          </a:bodyPr>
          <a:lstStyle/>
          <a:p>
            <a:pPr algn="l">
              <a:buNone/>
            </a:pPr>
            <a:r>
              <a:rPr lang="en-US" sz="1700" b="1" dirty="0">
                <a:solidFill>
                  <a:srgbClr val="EF5350"/>
                </a:solidFill>
              </a:rPr>
              <a:t>✕  Not a vector DB</a:t>
            </a:r>
          </a:p>
          <a:p>
            <a:pPr algn="l">
              <a:buNone/>
            </a:pPr>
            <a:r>
              <a:rPr lang="en-US" sz="1400" dirty="0">
                <a:solidFill>
                  <a:srgbClr val="AAB2BC"/>
                </a:solidFill>
              </a:rPr>
              <a:t>the directory tree IS the index</a:t>
            </a:r>
          </a:p>
        </p:txBody>
      </p:sp>
      <p:sp>
        <p:nvSpPr>
          <p:cNvPr id="804" name="Quote"/>
          <p:cNvSpPr/>
          <p:nvPr/>
        </p:nvSpPr>
        <p:spPr>
          <a:xfrm>
            <a:off x="6273800" y="1930400"/>
            <a:ext cx="5080000" cy="3403600"/>
          </a:xfrm>
          <a:prstGeom prst="roundRect">
            <a:avLst>
              <a:gd name="adj" fmla="val 6000"/>
            </a:avLst>
          </a:prstGeom>
          <a:solidFill>
            <a:srgbClr val="1A1D23"/>
          </a:solidFill>
          <a:ln w="19050">
            <a:solidFill>
              <a:srgbClr val="4FC3F7"/>
            </a:solidFill>
          </a:ln>
        </p:spPr>
        <p:txBody>
          <a:bodyPr lIns="228600" tIns="190500" rIns="228600" bIns="190500" anchor="ctr">
            <a:normAutofit/>
          </a:bodyPr>
          <a:lstStyle/>
          <a:p>
            <a:pPr algn="l">
              <a:buNone/>
            </a:pPr>
            <a:r>
              <a:rPr lang="en-US" sz="1600" i="1" dirty="0">
                <a:solidFill>
                  <a:srgbClr val="E8EAED"/>
                </a:solidFill>
              </a:rPr>
              <a:t>“Instead of building an agent with a big skill file, we use a folder structure Claude reads. The folder is the app. A top-level CLAUDE.md routes intent to a numbered room; each room has a context.md and an index of tiny markdown files — one task per file. Claude loads only the atoms it needs: three to five files, about 10 KB. Half the context of a plugin bundle, and you can read the agent’s entire memory by opening the folder.”</a:t>
            </a:r>
          </a:p>
        </p:txBody>
      </p:sp>
      <p:sp>
        <p:nvSpPr>
          <p:cNvPr id="805" name="Close"/>
          <p:cNvSpPr/>
          <p:nvPr/>
        </p:nvSpPr>
        <p:spPr>
          <a:xfrm>
            <a:off x="6273800" y="5537200"/>
            <a:ext cx="5080000" cy="711200"/>
          </a:xfrm>
          <a:prstGeom prst="roundRect">
            <a:avLst>
              <a:gd name="adj" fmla="val 14000"/>
            </a:avLst>
          </a:prstGeom>
          <a:solidFill>
            <a:srgbClr val="20242B"/>
          </a:solidFill>
          <a:ln>
            <a:noFill/>
          </a:ln>
        </p:spPr>
        <p:txBody>
          <a:bodyPr lIns="190500" rIns="190500" anchor="ctr">
            <a:normAutofit/>
          </a:bodyPr>
          <a:lstStyle/>
          <a:p>
            <a:pPr algn="l">
              <a:buNone/>
            </a:pPr>
            <a:r>
              <a:rPr lang="en-US" sz="1500" dirty="0">
                <a:solidFill>
                  <a:srgbClr val="C3C9D1"/>
                </a:solidFill>
              </a:rPr>
              <a:t>A knowledge layout pattern — faster, cheaper, easier to audit.</a:t>
            </a:r>
          </a:p>
        </p:txBody>
      </p:sp>
    </p:spTree>
    <p:extLst>
      <p:ext uri="{BB962C8B-B14F-4D97-AF65-F5344CB8AC3E}">
        <p14:creationId xmlns:p14="http://schemas.microsoft.com/office/powerpoint/2010/main" val="37333250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DCA3A-4915-6E49-868B-33998EF48D40}"/>
              </a:ext>
            </a:extLst>
          </p:cNvPr>
          <p:cNvSpPr>
            <a:spLocks noGrp="1"/>
          </p:cNvSpPr>
          <p:nvPr>
            <p:ph type="title"/>
          </p:nvPr>
        </p:nvSpPr>
        <p:spPr>
          <a:xfrm>
            <a:off x="838200" y="2235200"/>
            <a:ext cx="10515600" cy="1397000"/>
          </a:xfrm>
        </p:spPr>
        <p:txBody>
          <a:bodyPr anchor="b"/>
          <a:lstStyle/>
          <a:p>
            <a:pPr algn="ctr">
              <a:buNone/>
            </a:pPr>
            <a:r>
              <a:rPr lang="en-US" sz="4000" b="1" dirty="0">
                <a:solidFill>
                  <a:srgbClr val="FFFFFF"/>
                </a:solidFill>
              </a:rPr>
              <a:t>What comes out the other end</a:t>
            </a:r>
          </a:p>
        </p:txBody>
      </p:sp>
      <p:sp>
        <p:nvSpPr>
          <p:cNvPr id="3" name="Text Placeholder 2">
            <a:extLst>
              <a:ext uri="{FF2B5EF4-FFF2-40B4-BE49-F238E27FC236}">
                <a16:creationId xmlns:a16="http://schemas.microsoft.com/office/drawing/2014/main" id="{924B528C-F52F-8A6C-D2F9-5649150BB596}"/>
              </a:ext>
            </a:extLst>
          </p:cNvPr>
          <p:cNvSpPr>
            <a:spLocks noGrp="1"/>
          </p:cNvSpPr>
          <p:nvPr>
            <p:ph type="body" idx="1"/>
          </p:nvPr>
        </p:nvSpPr>
        <p:spPr>
          <a:xfrm>
            <a:off x="838200" y="3759200"/>
            <a:ext cx="10515600" cy="889000"/>
          </a:xfrm>
        </p:spPr>
        <p:txBody>
          <a:bodyPr anchor="t"/>
          <a:lstStyle/>
          <a:p>
            <a:pPr algn="ctr">
              <a:buNone/>
            </a:pPr>
            <a:r>
              <a:rPr lang="en-US" sz="1800" dirty="0">
                <a:solidFill>
                  <a:srgbClr val="AAB2BC"/>
                </a:solidFill>
              </a:rPr>
              <a:t>Four artifacts the blueprints produced — a theme, a report page, a dataset, a review pass.</a:t>
            </a:r>
          </a:p>
        </p:txBody>
      </p:sp>
    </p:spTree>
    <p:extLst>
      <p:ext uri="{BB962C8B-B14F-4D97-AF65-F5344CB8AC3E}">
        <p14:creationId xmlns:p14="http://schemas.microsoft.com/office/powerpoint/2010/main" val="12689195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FA0D1-41F6-911A-AD5A-5C2130E1ECF3}"/>
              </a:ext>
            </a:extLst>
          </p:cNvPr>
          <p:cNvSpPr>
            <a:spLocks noGrp="1"/>
          </p:cNvSpPr>
          <p:nvPr>
            <p:ph type="title"/>
          </p:nvPr>
        </p:nvSpPr>
        <p:spPr/>
        <p:txBody>
          <a:bodyPr/>
          <a:lstStyle/>
          <a:p>
            <a:r>
              <a:rPr lang="en-US" dirty="0"/>
              <a:t>Result 01 — a theme from a brief</a:t>
            </a:r>
          </a:p>
        </p:txBody>
      </p:sp>
      <p:sp>
        <p:nvSpPr>
          <p:cNvPr id="950" name="Frame"/>
          <p:cNvSpPr/>
          <p:nvPr/>
        </p:nvSpPr>
        <p:spPr>
          <a:xfrm>
            <a:off x="838200" y="1905000"/>
            <a:ext cx="7061200" cy="4318000"/>
          </a:xfrm>
          <a:prstGeom prst="roundRect">
            <a:avLst>
              <a:gd name="adj" fmla="val 3000"/>
            </a:avLst>
          </a:prstGeom>
          <a:solidFill>
            <a:srgbClr val="141619"/>
          </a:solidFill>
          <a:ln w="19050">
            <a:solidFill>
              <a:srgbClr val="4FC3F7"/>
            </a:solidFill>
            <a:prstDash val="dash"/>
          </a:ln>
        </p:spPr>
        <p:txBody>
          <a:bodyPr lIns="228600" tIns="228600" rIns="228600" bIns="228600" anchor="ctr">
            <a:noAutofit/>
          </a:bodyPr>
          <a:lstStyle/>
          <a:p>
            <a:pPr algn="ctr">
              <a:buNone/>
            </a:pPr>
            <a:r>
              <a:rPr lang="en-US" sz="2000" b="1" dirty="0">
                <a:solidFill>
                  <a:srgbClr val="4FC3F7"/>
                </a:solidFill>
                <a:latin typeface="Consolas"/>
              </a:rPr>
              <a:t>[ SCREENSHOT ]</a:t>
            </a:r>
          </a:p>
          <a:p>
            <a:pPr algn="ctr">
              <a:spcBef>
                <a:spcPts val="600"/>
              </a:spcBef>
              <a:buNone/>
            </a:pPr>
            <a:r>
              <a:rPr lang="en-US" sz="1500" dirty="0">
                <a:solidFill>
                  <a:srgbClr val="AAB2BC"/>
                </a:solidFill>
              </a:rPr>
              <a:t>the finished theme applied to a report page</a:t>
            </a:r>
          </a:p>
        </p:txBody>
      </p:sp>
      <p:sp>
        <p:nvSpPr>
          <p:cNvPr id="951" name="Panel"/>
          <p:cNvSpPr/>
          <p:nvPr/>
        </p:nvSpPr>
        <p:spPr>
          <a:xfrm>
            <a:off x="8153400" y="1905000"/>
            <a:ext cx="3200400" cy="4318000"/>
          </a:xfrm>
          <a:prstGeom prst="roundRect">
            <a:avLst>
              <a:gd name="adj" fmla="val 5000"/>
            </a:avLst>
          </a:prstGeom>
          <a:solidFill>
            <a:srgbClr val="1C2027"/>
          </a:solidFill>
          <a:ln>
            <a:noFill/>
          </a:ln>
        </p:spPr>
        <p:txBody>
          <a:bodyPr lIns="190500" tIns="203200" rIns="190500" bIns="203200" anchor="ctr">
            <a:noAutofit/>
          </a:bodyPr>
          <a:lstStyle/>
          <a:p>
            <a:pPr algn="l">
              <a:buNone/>
            </a:pPr>
            <a:r>
              <a:rPr lang="en-US" sz="2200" b="1" dirty="0">
                <a:solidFill>
                  <a:srgbClr val="4FC3F7"/>
                </a:solidFill>
              </a:rPr>
              <a:t>Theme JSON</a:t>
            </a:r>
          </a:p>
          <a:p>
            <a:pPr algn="l">
              <a:spcBef>
                <a:spcPts val="500"/>
              </a:spcBef>
              <a:buNone/>
            </a:pPr>
            <a:r>
              <a:rPr lang="en-US" sz="1500" dirty="0">
                <a:solidFill>
                  <a:srgbClr val="AAB2BC"/>
                </a:solidFill>
                <a:latin typeface="Consolas"/>
              </a:rPr>
              <a:t>projects/themes/&lt;slug&gt;/</a:t>
            </a:r>
          </a:p>
          <a:p>
            <a:pPr algn="l">
              <a:spcBef>
                <a:spcPts val="1600"/>
              </a:spcBef>
              <a:buNone/>
            </a:pPr>
            <a:r>
              <a:rPr lang="en-US" sz="1500" b="1" dirty="0">
                <a:solidFill>
                  <a:srgbClr val="FFFFFF"/>
                </a:solidFill>
              </a:rPr>
              <a:t>Point out</a:t>
            </a:r>
          </a:p>
          <a:p>
            <a:pPr marL="171450" indent="-171450">
              <a:spcBef>
                <a:spcPts val="1000"/>
              </a:spcBef>
              <a:buClr>
                <a:srgbClr val="4FC3F7"/>
              </a:buClr>
              <a:buFont typeface="Arial"/>
              <a:buChar char="•"/>
            </a:pPr>
            <a:r>
              <a:rPr lang="en-US" sz="1500" dirty="0">
                <a:solidFill>
                  <a:srgbClr val="C3C9D1"/>
                </a:solidFill>
              </a:rPr>
              <a:t>Seven atoms ran in order</a:t>
            </a:r>
          </a:p>
          <a:p>
            <a:pPr marL="171450" indent="-171450">
              <a:spcBef>
                <a:spcPts val="1000"/>
              </a:spcBef>
              <a:buClr>
                <a:srgbClr val="4FC3F7"/>
              </a:buClr>
              <a:buFont typeface="Arial"/>
              <a:buChar char="•"/>
            </a:pPr>
            <a:r>
              <a:rPr lang="en-US" sz="1500" dirty="0">
                <a:solidFill>
                  <a:srgbClr val="C3C9D1"/>
                </a:solidFill>
              </a:rPr>
              <a:t>A four-layer color system</a:t>
            </a:r>
          </a:p>
          <a:p>
            <a:pPr marL="171450" indent="-171450">
              <a:spcBef>
                <a:spcPts val="1000"/>
              </a:spcBef>
              <a:buClr>
                <a:srgbClr val="4FC3F7"/>
              </a:buClr>
              <a:buFont typeface="Arial"/>
              <a:buChar char="•"/>
            </a:pPr>
            <a:r>
              <a:rPr lang="en-US" sz="1500" dirty="0">
                <a:solidFill>
                  <a:srgbClr val="C3C9D1"/>
                </a:solidFill>
              </a:rPr>
              <a:t>Wildcard defaults catch visuals nobody styled</a:t>
            </a:r>
          </a:p>
        </p:txBody>
      </p:sp>
    </p:spTree>
    <p:extLst>
      <p:ext uri="{BB962C8B-B14F-4D97-AF65-F5344CB8AC3E}">
        <p14:creationId xmlns:p14="http://schemas.microsoft.com/office/powerpoint/2010/main" val="13098455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71DD6-8FDE-162D-FB78-1850A47F2737}"/>
              </a:ext>
            </a:extLst>
          </p:cNvPr>
          <p:cNvSpPr>
            <a:spLocks noGrp="1"/>
          </p:cNvSpPr>
          <p:nvPr>
            <p:ph type="title"/>
          </p:nvPr>
        </p:nvSpPr>
        <p:spPr/>
        <p:txBody>
          <a:bodyPr/>
          <a:lstStyle/>
          <a:p>
            <a:r>
              <a:rPr lang="en-US" dirty="0"/>
              <a:t>Result 02 — a report page from that brief</a:t>
            </a:r>
          </a:p>
        </p:txBody>
      </p:sp>
      <p:sp>
        <p:nvSpPr>
          <p:cNvPr id="950" name="Frame"/>
          <p:cNvSpPr/>
          <p:nvPr/>
        </p:nvSpPr>
        <p:spPr>
          <a:xfrm>
            <a:off x="838200" y="1905000"/>
            <a:ext cx="7061200" cy="4318000"/>
          </a:xfrm>
          <a:prstGeom prst="roundRect">
            <a:avLst>
              <a:gd name="adj" fmla="val 3000"/>
            </a:avLst>
          </a:prstGeom>
          <a:solidFill>
            <a:srgbClr val="141619"/>
          </a:solidFill>
          <a:ln w="19050">
            <a:solidFill>
              <a:srgbClr val="FFB74D"/>
            </a:solidFill>
            <a:prstDash val="dash"/>
          </a:ln>
        </p:spPr>
        <p:txBody>
          <a:bodyPr lIns="228600" tIns="228600" rIns="228600" bIns="228600" anchor="ctr">
            <a:noAutofit/>
          </a:bodyPr>
          <a:lstStyle/>
          <a:p>
            <a:pPr algn="ctr">
              <a:buNone/>
            </a:pPr>
            <a:r>
              <a:rPr lang="en-US" sz="2000" b="1" dirty="0">
                <a:solidFill>
                  <a:srgbClr val="FFB74D"/>
                </a:solidFill>
                <a:latin typeface="Consolas"/>
              </a:rPr>
              <a:t>[ SCREENSHOT ]</a:t>
            </a:r>
          </a:p>
          <a:p>
            <a:pPr algn="ctr">
              <a:spcBef>
                <a:spcPts val="600"/>
              </a:spcBef>
              <a:buNone/>
            </a:pPr>
            <a:r>
              <a:rPr lang="en-US" sz="1500" dirty="0">
                <a:solidFill>
                  <a:srgbClr val="AAB2BC"/>
                </a:solidFill>
              </a:rPr>
              <a:t>the report page as PowerPoint Desktop renders it</a:t>
            </a:r>
          </a:p>
        </p:txBody>
      </p:sp>
      <p:sp>
        <p:nvSpPr>
          <p:cNvPr id="951" name="Panel"/>
          <p:cNvSpPr/>
          <p:nvPr/>
        </p:nvSpPr>
        <p:spPr>
          <a:xfrm>
            <a:off x="8153400" y="1905000"/>
            <a:ext cx="3200400" cy="4318000"/>
          </a:xfrm>
          <a:prstGeom prst="roundRect">
            <a:avLst>
              <a:gd name="adj" fmla="val 5000"/>
            </a:avLst>
          </a:prstGeom>
          <a:solidFill>
            <a:srgbClr val="1C2027"/>
          </a:solidFill>
          <a:ln>
            <a:noFill/>
          </a:ln>
        </p:spPr>
        <p:txBody>
          <a:bodyPr lIns="190500" tIns="203200" rIns="190500" bIns="203200" anchor="ctr">
            <a:noAutofit/>
          </a:bodyPr>
          <a:lstStyle/>
          <a:p>
            <a:pPr algn="l">
              <a:buNone/>
            </a:pPr>
            <a:r>
              <a:rPr lang="en-US" sz="2200" b="1" dirty="0">
                <a:solidFill>
                  <a:srgbClr val="FFB74D"/>
                </a:solidFill>
              </a:rPr>
              <a:t>Report page</a:t>
            </a:r>
          </a:p>
          <a:p>
            <a:pPr algn="l">
              <a:spcBef>
                <a:spcPts val="500"/>
              </a:spcBef>
              <a:buNone/>
            </a:pPr>
            <a:r>
              <a:rPr lang="en-US" sz="1500" dirty="0">
                <a:solidFill>
                  <a:srgbClr val="AAB2BC"/>
                </a:solidFill>
                <a:latin typeface="Consolas"/>
              </a:rPr>
              <a:t>projects/&lt;project&gt;/</a:t>
            </a:r>
          </a:p>
          <a:p>
            <a:pPr algn="l">
              <a:spcBef>
                <a:spcPts val="1600"/>
              </a:spcBef>
              <a:buNone/>
            </a:pPr>
            <a:r>
              <a:rPr lang="en-US" sz="1500" b="1" dirty="0">
                <a:solidFill>
                  <a:srgbClr val="FFFFFF"/>
                </a:solidFill>
              </a:rPr>
              <a:t>Point out</a:t>
            </a:r>
          </a:p>
          <a:p>
            <a:pPr marL="171450" indent="-171450">
              <a:spcBef>
                <a:spcPts val="1000"/>
              </a:spcBef>
              <a:buClr>
                <a:srgbClr val="FFB74D"/>
              </a:buClr>
              <a:buFont typeface="Arial"/>
              <a:buChar char="•"/>
            </a:pPr>
            <a:r>
              <a:rPr lang="en-US" sz="1500" dirty="0">
                <a:solidFill>
                  <a:srgbClr val="C3C9D1"/>
                </a:solidFill>
              </a:rPr>
              <a:t>Authored through the pbir CLI, not by hand</a:t>
            </a:r>
          </a:p>
          <a:p>
            <a:pPr marL="171450" indent="-171450">
              <a:spcBef>
                <a:spcPts val="1000"/>
              </a:spcBef>
              <a:buClr>
                <a:srgbClr val="FFB74D"/>
              </a:buClr>
              <a:buFont typeface="Arial"/>
              <a:buChar char="•"/>
            </a:pPr>
            <a:r>
              <a:rPr lang="en-US" sz="1500" dirty="0">
                <a:solidFill>
                  <a:srgbClr val="C3C9D1"/>
                </a:solidFill>
              </a:rPr>
              <a:t>Visuals bound to real model measures</a:t>
            </a:r>
          </a:p>
          <a:p>
            <a:pPr marL="171450" indent="-171450">
              <a:spcBef>
                <a:spcPts val="1000"/>
              </a:spcBef>
              <a:buClr>
                <a:srgbClr val="FFB74D"/>
              </a:buClr>
              <a:buFont typeface="Arial"/>
              <a:buChar char="•"/>
            </a:pPr>
            <a:r>
              <a:rPr lang="en-US" sz="1500" dirty="0">
                <a:solidFill>
                  <a:srgbClr val="C3C9D1"/>
                </a:solidFill>
              </a:rPr>
              <a:t>The theme is applied, never hand-formatted</a:t>
            </a:r>
          </a:p>
        </p:txBody>
      </p:sp>
    </p:spTree>
    <p:extLst>
      <p:ext uri="{BB962C8B-B14F-4D97-AF65-F5344CB8AC3E}">
        <p14:creationId xmlns:p14="http://schemas.microsoft.com/office/powerpoint/2010/main" val="30707157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F7957-230D-13D4-89F8-19A6B755EAB6}"/>
              </a:ext>
            </a:extLst>
          </p:cNvPr>
          <p:cNvSpPr>
            <a:spLocks noGrp="1"/>
          </p:cNvSpPr>
          <p:nvPr>
            <p:ph type="title"/>
          </p:nvPr>
        </p:nvSpPr>
        <p:spPr/>
        <p:txBody>
          <a:bodyPr/>
          <a:lstStyle/>
          <a:p>
            <a:r>
              <a:rPr lang="en-US" dirty="0"/>
              <a:t>Result 03 — a synthetic dataset to spec</a:t>
            </a:r>
          </a:p>
        </p:txBody>
      </p:sp>
      <p:sp>
        <p:nvSpPr>
          <p:cNvPr id="950" name="Frame"/>
          <p:cNvSpPr/>
          <p:nvPr/>
        </p:nvSpPr>
        <p:spPr>
          <a:xfrm>
            <a:off x="838200" y="1905000"/>
            <a:ext cx="7061200" cy="4318000"/>
          </a:xfrm>
          <a:prstGeom prst="roundRect">
            <a:avLst>
              <a:gd name="adj" fmla="val 3000"/>
            </a:avLst>
          </a:prstGeom>
          <a:solidFill>
            <a:srgbClr val="141619"/>
          </a:solidFill>
          <a:ln w="19050">
            <a:solidFill>
              <a:srgbClr val="66BB6A"/>
            </a:solidFill>
            <a:prstDash val="dash"/>
          </a:ln>
        </p:spPr>
        <p:txBody>
          <a:bodyPr lIns="228600" tIns="228600" rIns="228600" bIns="228600" anchor="ctr">
            <a:noAutofit/>
          </a:bodyPr>
          <a:lstStyle/>
          <a:p>
            <a:pPr algn="ctr">
              <a:buNone/>
            </a:pPr>
            <a:r>
              <a:rPr lang="en-US" sz="2000" b="1" dirty="0">
                <a:solidFill>
                  <a:srgbClr val="66BB6A"/>
                </a:solidFill>
                <a:latin typeface="Consolas"/>
              </a:rPr>
              <a:t>[ SCREENSHOT ]</a:t>
            </a:r>
          </a:p>
          <a:p>
            <a:pPr algn="ctr">
              <a:spcBef>
                <a:spcPts val="600"/>
              </a:spcBef>
              <a:buNone/>
            </a:pPr>
            <a:r>
              <a:rPr lang="en-US" sz="1500" dirty="0">
                <a:solidFill>
                  <a:srgbClr val="AAB2BC"/>
                </a:solidFill>
              </a:rPr>
              <a:t>a profile of the generated data — rows, distributions, seed</a:t>
            </a:r>
          </a:p>
        </p:txBody>
      </p:sp>
      <p:sp>
        <p:nvSpPr>
          <p:cNvPr id="951" name="Panel"/>
          <p:cNvSpPr/>
          <p:nvPr/>
        </p:nvSpPr>
        <p:spPr>
          <a:xfrm>
            <a:off x="8153400" y="1905000"/>
            <a:ext cx="3200400" cy="4318000"/>
          </a:xfrm>
          <a:prstGeom prst="roundRect">
            <a:avLst>
              <a:gd name="adj" fmla="val 5000"/>
            </a:avLst>
          </a:prstGeom>
          <a:solidFill>
            <a:srgbClr val="1C2027"/>
          </a:solidFill>
          <a:ln>
            <a:noFill/>
          </a:ln>
        </p:spPr>
        <p:txBody>
          <a:bodyPr lIns="190500" tIns="203200" rIns="190500" bIns="203200" anchor="ctr">
            <a:noAutofit/>
          </a:bodyPr>
          <a:lstStyle/>
          <a:p>
            <a:pPr algn="l">
              <a:buNone/>
            </a:pPr>
            <a:r>
              <a:rPr lang="en-US" sz="2200" b="1" dirty="0">
                <a:solidFill>
                  <a:srgbClr val="66BB6A"/>
                </a:solidFill>
              </a:rPr>
              <a:t>Dataset</a:t>
            </a:r>
          </a:p>
          <a:p>
            <a:pPr algn="l">
              <a:spcBef>
                <a:spcPts val="500"/>
              </a:spcBef>
              <a:buNone/>
            </a:pPr>
            <a:r>
              <a:rPr lang="en-US" sz="1500" dirty="0">
                <a:solidFill>
                  <a:srgbClr val="AAB2BC"/>
                </a:solidFill>
                <a:latin typeface="Consolas"/>
              </a:rPr>
              <a:t>outputs/&lt;date&gt;-&lt;job&gt;.csv</a:t>
            </a:r>
          </a:p>
          <a:p>
            <a:pPr algn="l">
              <a:spcBef>
                <a:spcPts val="1600"/>
              </a:spcBef>
              <a:buNone/>
            </a:pPr>
            <a:r>
              <a:rPr lang="en-US" sz="1500" b="1" dirty="0">
                <a:solidFill>
                  <a:srgbClr val="FFFFFF"/>
                </a:solidFill>
              </a:rPr>
              <a:t>Point out</a:t>
            </a:r>
          </a:p>
          <a:p>
            <a:pPr marL="171450" indent="-171450">
              <a:spcBef>
                <a:spcPts val="1000"/>
              </a:spcBef>
              <a:buClr>
                <a:srgbClr val="66BB6A"/>
              </a:buClr>
              <a:buFont typeface="Arial"/>
              <a:buChar char="•"/>
            </a:pPr>
            <a:r>
              <a:rPr lang="en-US" sz="1500" dirty="0">
                <a:solidFill>
                  <a:srgbClr val="C3C9D1"/>
                </a:solidFill>
              </a:rPr>
              <a:t>Seeded, so it regenerates identically</a:t>
            </a:r>
          </a:p>
          <a:p>
            <a:pPr marL="171450" indent="-171450">
              <a:spcBef>
                <a:spcPts val="1000"/>
              </a:spcBef>
              <a:buClr>
                <a:srgbClr val="66BB6A"/>
              </a:buClr>
              <a:buFont typeface="Arial"/>
              <a:buChar char="•"/>
            </a:pPr>
            <a:r>
              <a:rPr lang="en-US" sz="1500" dirty="0">
                <a:solidFill>
                  <a:srgbClr val="C3C9D1"/>
                </a:solidFill>
              </a:rPr>
              <a:t>Shape defined once in 02-schema</a:t>
            </a:r>
          </a:p>
          <a:p>
            <a:pPr marL="171450" indent="-171450">
              <a:spcBef>
                <a:spcPts val="1000"/>
              </a:spcBef>
              <a:buClr>
                <a:srgbClr val="66BB6A"/>
              </a:buClr>
              <a:buFont typeface="Arial"/>
              <a:buChar char="•"/>
            </a:pPr>
            <a:r>
              <a:rPr lang="en-US" sz="1500" dirty="0">
                <a:solidFill>
                  <a:srgbClr val="C3C9D1"/>
                </a:solidFill>
              </a:rPr>
              <a:t>A PII-leakage audit runs before delivery</a:t>
            </a:r>
          </a:p>
        </p:txBody>
      </p:sp>
    </p:spTree>
    <p:extLst>
      <p:ext uri="{BB962C8B-B14F-4D97-AF65-F5344CB8AC3E}">
        <p14:creationId xmlns:p14="http://schemas.microsoft.com/office/powerpoint/2010/main" val="20888354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6D75F-720B-D6C6-F5FB-BF9F4020D18D}"/>
              </a:ext>
            </a:extLst>
          </p:cNvPr>
          <p:cNvSpPr>
            <a:spLocks noGrp="1"/>
          </p:cNvSpPr>
          <p:nvPr>
            <p:ph type="title"/>
          </p:nvPr>
        </p:nvSpPr>
        <p:spPr/>
        <p:txBody>
          <a:bodyPr/>
          <a:lstStyle/>
          <a:p>
            <a:r>
              <a:rPr lang="en-US" dirty="0"/>
              <a:t>Result 04 — a review pass</a:t>
            </a:r>
          </a:p>
        </p:txBody>
      </p:sp>
      <p:sp>
        <p:nvSpPr>
          <p:cNvPr id="950" name="Frame"/>
          <p:cNvSpPr/>
          <p:nvPr/>
        </p:nvSpPr>
        <p:spPr>
          <a:xfrm>
            <a:off x="838200" y="1905000"/>
            <a:ext cx="7061200" cy="4318000"/>
          </a:xfrm>
          <a:prstGeom prst="roundRect">
            <a:avLst>
              <a:gd name="adj" fmla="val 3000"/>
            </a:avLst>
          </a:prstGeom>
          <a:solidFill>
            <a:srgbClr val="141619"/>
          </a:solidFill>
          <a:ln w="19050">
            <a:solidFill>
              <a:srgbClr val="BA68C8"/>
            </a:solidFill>
            <a:prstDash val="dash"/>
          </a:ln>
        </p:spPr>
        <p:txBody>
          <a:bodyPr lIns="228600" tIns="228600" rIns="228600" bIns="228600" anchor="ctr">
            <a:noAutofit/>
          </a:bodyPr>
          <a:lstStyle/>
          <a:p>
            <a:pPr algn="ctr">
              <a:buNone/>
            </a:pPr>
            <a:r>
              <a:rPr lang="en-US" sz="2000" b="1" dirty="0">
                <a:solidFill>
                  <a:srgbClr val="BA68C8"/>
                </a:solidFill>
                <a:latin typeface="Consolas"/>
              </a:rPr>
              <a:t>[ SCREENSHOT ]</a:t>
            </a:r>
          </a:p>
          <a:p>
            <a:pPr algn="ctr">
              <a:spcBef>
                <a:spcPts val="600"/>
              </a:spcBef>
              <a:buNone/>
            </a:pPr>
            <a:r>
              <a:rPr lang="en-US" sz="1500" dirty="0">
                <a:solidFill>
                  <a:srgbClr val="AAB2BC"/>
                </a:solidFill>
              </a:rPr>
              <a:t>the validation output, with findings by file and line</a:t>
            </a:r>
          </a:p>
        </p:txBody>
      </p:sp>
      <p:sp>
        <p:nvSpPr>
          <p:cNvPr id="951" name="Panel"/>
          <p:cNvSpPr/>
          <p:nvPr/>
        </p:nvSpPr>
        <p:spPr>
          <a:xfrm>
            <a:off x="8153400" y="1905000"/>
            <a:ext cx="3200400" cy="4318000"/>
          </a:xfrm>
          <a:prstGeom prst="roundRect">
            <a:avLst>
              <a:gd name="adj" fmla="val 5000"/>
            </a:avLst>
          </a:prstGeom>
          <a:solidFill>
            <a:srgbClr val="1C2027"/>
          </a:solidFill>
          <a:ln>
            <a:noFill/>
          </a:ln>
        </p:spPr>
        <p:txBody>
          <a:bodyPr lIns="190500" tIns="203200" rIns="190500" bIns="203200" anchor="ctr">
            <a:noAutofit/>
          </a:bodyPr>
          <a:lstStyle/>
          <a:p>
            <a:pPr algn="l">
              <a:buNone/>
            </a:pPr>
            <a:r>
              <a:rPr lang="en-US" sz="2200" b="1" dirty="0">
                <a:solidFill>
                  <a:srgbClr val="BA68C8"/>
                </a:solidFill>
              </a:rPr>
              <a:t>Review output</a:t>
            </a:r>
          </a:p>
          <a:p>
            <a:pPr algn="l">
              <a:spcBef>
                <a:spcPts val="500"/>
              </a:spcBef>
              <a:buNone/>
            </a:pPr>
            <a:r>
              <a:rPr lang="en-US" sz="1500" dirty="0">
                <a:solidFill>
                  <a:srgbClr val="AAB2BC"/>
                </a:solidFill>
                <a:latin typeface="Consolas"/>
              </a:rPr>
              <a:t>outputs/&lt;date&gt;-review.md</a:t>
            </a:r>
          </a:p>
          <a:p>
            <a:pPr algn="l">
              <a:spcBef>
                <a:spcPts val="1600"/>
              </a:spcBef>
              <a:buNone/>
            </a:pPr>
            <a:r>
              <a:rPr lang="en-US" sz="1500" b="1" dirty="0">
                <a:solidFill>
                  <a:srgbClr val="FFFFFF"/>
                </a:solidFill>
              </a:rPr>
              <a:t>Point out</a:t>
            </a:r>
          </a:p>
          <a:p>
            <a:pPr marL="171450" indent="-171450">
              <a:spcBef>
                <a:spcPts val="1000"/>
              </a:spcBef>
              <a:buClr>
                <a:srgbClr val="BA68C8"/>
              </a:buClr>
              <a:buFont typeface="Arial"/>
              <a:buChar char="•"/>
            </a:pPr>
            <a:r>
              <a:rPr lang="en-US" sz="1500" dirty="0">
                <a:solidFill>
                  <a:srgbClr val="C3C9D1"/>
                </a:solidFill>
              </a:rPr>
              <a:t>PBIR and TMDL validated as they are written</a:t>
            </a:r>
          </a:p>
          <a:p>
            <a:pPr marL="171450" indent="-171450">
              <a:spcBef>
                <a:spcPts val="1000"/>
              </a:spcBef>
              <a:buClr>
                <a:srgbClr val="BA68C8"/>
              </a:buClr>
              <a:buFont typeface="Arial"/>
              <a:buChar char="•"/>
            </a:pPr>
            <a:r>
              <a:rPr lang="en-US" sz="1500" dirty="0">
                <a:solidFill>
                  <a:srgbClr val="C3C9D1"/>
                </a:solidFill>
              </a:rPr>
              <a:t>Lineage checked from source to visual</a:t>
            </a:r>
          </a:p>
          <a:p>
            <a:pPr marL="171450" indent="-171450">
              <a:spcBef>
                <a:spcPts val="1000"/>
              </a:spcBef>
              <a:buClr>
                <a:srgbClr val="BA68C8"/>
              </a:buClr>
              <a:buFont typeface="Arial"/>
              <a:buChar char="•"/>
            </a:pPr>
            <a:r>
              <a:rPr lang="en-US" sz="1500" dirty="0">
                <a:solidFill>
                  <a:srgbClr val="C3C9D1"/>
                </a:solidFill>
              </a:rPr>
              <a:t>Every finding names a file and a line</a:t>
            </a:r>
          </a:p>
        </p:txBody>
      </p:sp>
    </p:spTree>
    <p:extLst>
      <p:ext uri="{BB962C8B-B14F-4D97-AF65-F5344CB8AC3E}">
        <p14:creationId xmlns:p14="http://schemas.microsoft.com/office/powerpoint/2010/main" val="229733390"/>
      </p:ext>
    </p:extLst>
  </p:cSld>
  <p:clrMapOvr>
    <a:masterClrMapping/>
  </p:clrMapOvr>
</p:sld>
</file>

<file path=ppt/theme/theme1.xml><?xml version="1.0" encoding="utf-8"?>
<a:theme xmlns:a="http://schemas.openxmlformats.org/drawingml/2006/main" name="Office Theme [1786469225362]">
  <a:themeElements>
    <a:clrScheme name="Office">
      <a:dk1>
        <a:srgbClr val="E8EAED"/>
      </a:dk1>
      <a:lt1>
        <a:srgbClr val="14161A"/>
      </a:lt1>
      <a:dk2>
        <a:srgbClr val="B0BEC5"/>
      </a:dk2>
      <a:lt2>
        <a:srgbClr val="20242B"/>
      </a:lt2>
      <a:accent1>
        <a:srgbClr val="4FC3F7"/>
      </a:accent1>
      <a:accent2>
        <a:srgbClr val="FFB74D"/>
      </a:accent2>
      <a:accent3>
        <a:srgbClr val="66BB6A"/>
      </a:accent3>
      <a:accent4>
        <a:srgbClr val="BA68C8"/>
      </a:accent4>
      <a:accent5>
        <a:srgbClr val="EF5350"/>
      </a:accent5>
      <a:accent6>
        <a:srgbClr val="78909C"/>
      </a:accent6>
      <a:hlink>
        <a:srgbClr val="467886"/>
      </a:hlink>
      <a:folHlink>
        <a:srgbClr val="96607D"/>
      </a:folHlink>
    </a:clrScheme>
    <a:fontScheme name="Office">
      <a:majorFont>
        <a:latin typeface="Bahnschrift SemiBold"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3D47D61-3BEF-45B9-B41A-A0FAE08C793D}">
  <we:reference id="wa200010725" version="1.0.0.1" store="en-US" storeType="OMEX"/>
  <we:alternateReferences>
    <we:reference id="WA200010725" version="1.0.0.1" store="" storeType="OMEX"/>
  </we:alternateReferences>
  <we:properties>
    <we:property name="claude.fileId" value="&quot;bf156f7d-57de-46b0-967e-22c71007409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3667</Words>
  <Application>Microsoft Office PowerPoint</Application>
  <PresentationFormat>Widescreen</PresentationFormat>
  <Paragraphs>261</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Aptos</vt:lpstr>
      <vt:lpstr>Arial</vt:lpstr>
      <vt:lpstr>Bahnschrift SemiBold</vt:lpstr>
      <vt:lpstr>Consolas</vt:lpstr>
      <vt:lpstr>Segoe UI</vt:lpstr>
      <vt:lpstr>Office Theme [1786469225362]</vt:lpstr>
      <vt:lpstr>The Folder IS the App</vt:lpstr>
      <vt:lpstr>What we’ll walk through</vt:lpstr>
      <vt:lpstr>Most “AI agents” load too much, too often</vt:lpstr>
      <vt:lpstr>Three layers, loaded only when needed</vt:lpstr>
      <vt:lpstr>Five principles hold it together</vt:lpstr>
      <vt:lpstr>Same five tasks, half the context</vt:lpstr>
      <vt:lpstr>The architecture as applied here</vt:lpstr>
      <vt:lpstr>Two blueprints, two stages of maturity</vt:lpstr>
      <vt:lpstr>1 — How a request becomes the right files</vt:lpstr>
      <vt:lpstr>2 — Brief first, chat second</vt:lpstr>
      <vt:lpstr>3 — Claude notices briefs you edited in your IDE</vt:lpstr>
      <vt:lpstr>4 — Cheap and local first, remote last</vt:lpstr>
      <vt:lpstr>5 — One workflow, seven atoms</vt:lpstr>
      <vt:lpstr>6 — Three hook subsystems, three switches</vt:lpstr>
      <vt:lpstr>Adding a blueprint for a new tool</vt:lpstr>
      <vt:lpstr>What it is not — and the 60-second version</vt:lpstr>
      <vt:lpstr>What comes out the other end</vt:lpstr>
      <vt:lpstr>Result 01 — a theme from a brief</vt:lpstr>
      <vt:lpstr>Result 02 — a report page from that brief</vt:lpstr>
      <vt:lpstr>Result 03 — a synthetic dataset to spec</vt:lpstr>
      <vt:lpstr>Result 04 — a review pass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Jonathan Papworth</dc:creator>
  <cp:lastModifiedBy>Jonathan Papworth</cp:lastModifiedBy>
  <cp:revision>4</cp:revision>
  <dcterms:created xsi:type="dcterms:W3CDTF">2026-08-11T17:16:27Z</dcterms:created>
  <dcterms:modified xsi:type="dcterms:W3CDTF">2026-08-12T19:05:32Z</dcterms:modified>
</cp:coreProperties>
</file>